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257" r:id="rId2"/>
    <p:sldId id="270" r:id="rId3"/>
    <p:sldId id="271" r:id="rId4"/>
    <p:sldId id="272" r:id="rId5"/>
    <p:sldId id="273" r:id="rId6"/>
    <p:sldId id="308" r:id="rId7"/>
    <p:sldId id="309" r:id="rId8"/>
    <p:sldId id="256" r:id="rId9"/>
    <p:sldId id="258" r:id="rId10"/>
    <p:sldId id="259" r:id="rId11"/>
    <p:sldId id="260" r:id="rId12"/>
    <p:sldId id="261" r:id="rId13"/>
    <p:sldId id="262" r:id="rId14"/>
    <p:sldId id="263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264" r:id="rId31"/>
    <p:sldId id="266" r:id="rId32"/>
    <p:sldId id="265" r:id="rId33"/>
    <p:sldId id="267" r:id="rId34"/>
    <p:sldId id="268" r:id="rId35"/>
    <p:sldId id="269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141DE5-F815-44F5-BAD0-AD607BE8EDF9}">
          <p14:sldIdLst>
            <p14:sldId id="257"/>
            <p14:sldId id="270"/>
            <p14:sldId id="271"/>
            <p14:sldId id="272"/>
            <p14:sldId id="273"/>
            <p14:sldId id="308"/>
            <p14:sldId id="309"/>
          </p14:sldIdLst>
        </p14:section>
        <p14:section name="SQL" id="{092729A3-1D96-4C38-8BB3-7DC7AE28E3B8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264"/>
            <p14:sldId id="266"/>
            <p14:sldId id="265"/>
            <p14:sldId id="267"/>
            <p14:sldId id="268"/>
            <p14:sldId id="269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48" autoAdjust="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FBA95-D5F5-4946-BEB9-A55E0BAF88F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E524E-43CD-4F1A-BD5D-1A99846C0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3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E524E-43CD-4F1A-BD5D-1A99846C0F9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53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82EB58D-7B05-4A93-BCBE-C7EA852EF4E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30C59BDA-6D00-4A2B-904A-94ADCFCA0002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339"/>
            <a:ext cx="8229600" cy="1143000"/>
          </a:xfrm>
        </p:spPr>
        <p:txBody>
          <a:bodyPr/>
          <a:lstStyle/>
          <a:p>
            <a:r>
              <a:rPr lang="en-US" dirty="0"/>
              <a:t>Introduction to DBMS: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676400"/>
            <a:ext cx="7620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DBMS Architecture-Centralized, Client Server and Distributed Database, Database Design-Normal Forms, Data Modeling using ER and extended ER, The Relational model and Relational DBMS: integrity constraints, Basic SQL, Relational algebra, Relational calculus, Case study: Oracle/DB2/MS-SQL</a:t>
            </a:r>
          </a:p>
        </p:txBody>
      </p:sp>
    </p:spTree>
    <p:extLst>
      <p:ext uri="{BB962C8B-B14F-4D97-AF65-F5344CB8AC3E}">
        <p14:creationId xmlns:p14="http://schemas.microsoft.com/office/powerpoint/2010/main" val="304488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339"/>
            <a:ext cx="8229600" cy="1143000"/>
          </a:xfrm>
        </p:spPr>
        <p:txBody>
          <a:bodyPr/>
          <a:lstStyle/>
          <a:p>
            <a:r>
              <a:rPr lang="en-US" dirty="0" smtClean="0"/>
              <a:t>Centralized DBMS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1743569"/>
            <a:ext cx="7467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a) Merge everything into single system including- Hardware, DBMS software, application programs, and user interface processing software.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b) User can still connect by a remote terminal - but all processing is done at centralized site.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37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3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314739"/>
            <a:ext cx="8229600" cy="1143000"/>
          </a:xfrm>
          <a:prstGeom prst="rect">
            <a:avLst/>
          </a:prstGeom>
        </p:spPr>
        <p:txBody>
          <a:bodyPr vert="horz" anchor="ctr">
            <a:normAutofit fontScale="92500"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2-Tier Client-Server Architecture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38200" y="1752600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Specialized Servers With Specialized Functions.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25908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Print Server 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600" y="32004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File Server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4339" y="3745468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 DBMS  Server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44196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WEB  Server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5093732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Email   Server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738" y="5715000"/>
            <a:ext cx="81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Clients are able to access the Specialized    Servers as needed 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30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155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048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Advanced Querying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9540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When we move beyond basic SQL (like simple SELECT and WHERE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queries)Advanced </a:t>
            </a:r>
            <a:r>
              <a:rPr lang="en-US" dirty="0">
                <a:latin typeface="Arial" pitchFamily="34" charset="0"/>
                <a:cs typeface="Arial" pitchFamily="34" charset="0"/>
              </a:rPr>
              <a:t>Querying is used to filter, analyze, and combine complex and heavy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96954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Its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main</a:t>
            </a:r>
            <a:r>
              <a:rPr lang="en-US" sz="2400" b="1" dirty="0"/>
              <a:t> components are as follows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8957" y="3042958"/>
            <a:ext cx="1329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1. Joins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8957" y="3657600"/>
            <a:ext cx="18662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2. Subqueries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8957" y="4299562"/>
            <a:ext cx="43515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3. GROUP BY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HAVING Clause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8957" y="4800600"/>
            <a:ext cx="29642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4.Aggregate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18711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61090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95400"/>
            <a:ext cx="7924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In Database Management Systems (DBMS), constraints are the rules enforced on the data columns of a table. They are used to limit the type of data that can go into a table to ensure the accuracy, reliability, and integrity of the data in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Common Types of SQL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9964" y="3404944"/>
            <a:ext cx="7553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NOT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NULL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Ensures that a column cannot have a NULL (empty)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970610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UNIQUE 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Ensures that all values in a column are distinct and different from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2817" y="4811259"/>
            <a:ext cx="7742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PRIMARY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KEY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A combination of NOT NULL and UNIQUE. Uniquely identifies each row in a 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6131" y="5712407"/>
            <a:ext cx="77392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FOREIGN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KEY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Uniquely identifies a row/record in another table, establishing a relationship between two tables.</a:t>
            </a:r>
          </a:p>
        </p:txBody>
      </p:sp>
    </p:spTree>
    <p:extLst>
      <p:ext uri="{BB962C8B-B14F-4D97-AF65-F5344CB8AC3E}">
        <p14:creationId xmlns:p14="http://schemas.microsoft.com/office/powerpoint/2010/main" val="412291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Over View Of SQL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295400"/>
            <a:ext cx="693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Database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 A Database is an Organized Collection of interrelated data 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900" y="2286000"/>
            <a:ext cx="693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DBMS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: In Order to manage databases , we need Database Management Systems .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3124200" y="3276600"/>
            <a:ext cx="2514600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543300" y="3564523"/>
            <a:ext cx="1828800" cy="3385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Database Users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Up-Down Arrow 8"/>
          <p:cNvSpPr/>
          <p:nvPr/>
        </p:nvSpPr>
        <p:spPr>
          <a:xfrm>
            <a:off x="4267200" y="4224130"/>
            <a:ext cx="190500" cy="609600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 Single Corner Rectangle 9"/>
          <p:cNvSpPr/>
          <p:nvPr/>
        </p:nvSpPr>
        <p:spPr>
          <a:xfrm>
            <a:off x="3124200" y="4833730"/>
            <a:ext cx="2590800" cy="728870"/>
          </a:xfrm>
          <a:prstGeom prst="round1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52800" y="4953000"/>
            <a:ext cx="20193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DBMS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00400" y="6019800"/>
            <a:ext cx="2438400" cy="6096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657600" y="61722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Database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Up-Down Arrow 13"/>
          <p:cNvSpPr/>
          <p:nvPr/>
        </p:nvSpPr>
        <p:spPr>
          <a:xfrm>
            <a:off x="4257675" y="5562600"/>
            <a:ext cx="161925" cy="457200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13268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RDBMS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295400"/>
            <a:ext cx="6934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RDBMS : A Relational database uses Relations or Two –Dimensional tables to Store Data .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Such A database can be accessed and modified by executing Structured Query Language  (SQL).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2743488"/>
            <a:ext cx="6934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RDBMS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Soon became very popular, especially for their ease of flexibility in structure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Relational Database | Learn Relational Database Model RDB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937" y="3863009"/>
            <a:ext cx="3819525" cy="236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77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295400"/>
            <a:ext cx="762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SQL(Structured Query Language ) : Most Commercial Database Management Systems Support A Query Language , SQL , Which is most influential Commercially marketed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226" y="2514600"/>
            <a:ext cx="693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SQL is non Procedural Language 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You specify what information you require , rather than how to get it .</a:t>
            </a:r>
          </a:p>
          <a:p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 other words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SQL does not require you to specify  the access  methods to the  data .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7226" y="3886200"/>
            <a:ext cx="723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The SQL language , Originally Called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SEQUEL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(Structured English Query Language)  was developed by IBM. Which was latter named as SQL.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34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295400"/>
            <a:ext cx="693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Language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1828800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SQL is divided into distinct sublanguages or language components based on the specific type of task you want to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perform.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24778" y="2743200"/>
            <a:ext cx="6286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database architects categorize it into five primary components.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" y="3701534"/>
            <a:ext cx="42693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1:DDL (Data Definition Language)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34716" y="4572000"/>
            <a:ext cx="7856884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What it does: DDL is used to define, modify, or delete the </a:t>
            </a:r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structure (schema)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of the database, such as tables, indexes, views, and schemas. Ex : Create ,Alter , drop 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53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29540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rgbClr val="FFFF00"/>
                </a:solidFill>
              </a:rPr>
              <a:t>Language Components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04900" y="2217147"/>
            <a:ext cx="742950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DML is used for managing the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actual data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stored inside the database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tables. It allows you to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add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modify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or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remove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record rows.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Ex: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Insert , Update and Delete 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4961" y="1796534"/>
            <a:ext cx="47500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1. DML (Data Manipulation Language)</a:t>
            </a:r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1104900" y="3619428"/>
            <a:ext cx="4381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2. DQL (Data Query Language)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343400"/>
            <a:ext cx="77724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DQL is specifically focused on </a:t>
            </a:r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retrieving data from the database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 (In many textbooks, SELECT is grouped under DML, but in advanced architectures, it is treated as its own distinct category because it doesn't change data states.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Ex : SELECT Command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354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29540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Language</a:t>
            </a:r>
            <a:r>
              <a:rPr lang="en-US" sz="2800" b="1" dirty="0" smtClean="0">
                <a:solidFill>
                  <a:srgbClr val="FFFF00"/>
                </a:solidFill>
              </a:rPr>
              <a:t> Components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04900" y="2217147"/>
            <a:ext cx="78867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DCL handles security, </a:t>
            </a:r>
            <a:r>
              <a:rPr lang="en-US" sz="2000" b="1" dirty="0" smtClean="0">
                <a:solidFill>
                  <a:srgbClr val="FF0000"/>
                </a:solidFill>
              </a:rPr>
              <a:t>access control, and permissions. </a:t>
            </a:r>
            <a:r>
              <a:rPr lang="en-US" sz="2000" b="1" dirty="0" smtClean="0"/>
              <a:t>It dictates which database users can view, alter, or query specific tables and schemas.</a:t>
            </a:r>
          </a:p>
          <a:p>
            <a:r>
              <a:rPr lang="en-US" sz="2000" b="1" dirty="0" smtClean="0"/>
              <a:t>Primary Commands:</a:t>
            </a:r>
          </a:p>
          <a:p>
            <a:r>
              <a:rPr lang="en-US" sz="2000" b="1" dirty="0" smtClean="0"/>
              <a:t>GRANT: Gives specific privileges to a user.</a:t>
            </a:r>
          </a:p>
          <a:p>
            <a:r>
              <a:rPr lang="en-US" sz="2000" b="1" dirty="0" smtClean="0"/>
              <a:t>REVOKE: Takes back previously granted privileges.</a:t>
            </a:r>
          </a:p>
          <a:p>
            <a:endParaRPr lang="en-US" sz="2000" b="1" dirty="0" smtClean="0"/>
          </a:p>
        </p:txBody>
      </p:sp>
      <p:sp>
        <p:nvSpPr>
          <p:cNvPr id="7" name="Rectangle 6"/>
          <p:cNvSpPr/>
          <p:nvPr/>
        </p:nvSpPr>
        <p:spPr>
          <a:xfrm>
            <a:off x="1094961" y="1796534"/>
            <a:ext cx="39533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000" b="1" dirty="0"/>
              <a:t>4. DCL (Data Control Language)</a:t>
            </a:r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1212574" y="4409223"/>
            <a:ext cx="46746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5.TCL (Transaction Control Language)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212574" y="4826675"/>
            <a:ext cx="7010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Primary Commands:</a:t>
            </a:r>
          </a:p>
          <a:p>
            <a:endParaRPr lang="en-US" dirty="0" smtClean="0"/>
          </a:p>
          <a:p>
            <a:r>
              <a:rPr lang="en-US" sz="2000" b="1" dirty="0" smtClean="0"/>
              <a:t>COMMIT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Saves all changes</a:t>
            </a:r>
            <a:r>
              <a:rPr lang="en-US" dirty="0" smtClean="0"/>
              <a:t> made during the current transaction permanently.</a:t>
            </a:r>
          </a:p>
          <a:p>
            <a:r>
              <a:rPr lang="en-US" b="1" dirty="0" smtClean="0"/>
              <a:t>ROLLBACK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Undoes changes </a:t>
            </a:r>
            <a:r>
              <a:rPr lang="en-US" dirty="0" smtClean="0"/>
              <a:t>made during the current transaction if an error occurs.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53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SQL *Plus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04900" y="1447800"/>
            <a:ext cx="7429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SQL *Plus : IS An Oracle Tool That Recognizes and Submits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SQL And PL/SQL (Procedural Language/Structured Query Language) 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Statements to the Server Execution.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574" y="2743200"/>
            <a:ext cx="7429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SQL*Plus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is a command-line interface (CLI) tool provided by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Oracle Corporation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that allows users to interact with an Oracle Database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95400" y="38862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How To install –SQL *plus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488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  <a:endParaRPr lang="en-US" sz="48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09261" y="1357196"/>
            <a:ext cx="74295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Relational Algebra </a:t>
            </a:r>
            <a:r>
              <a:rPr lang="en-US" dirty="0">
                <a:latin typeface="Arial" pitchFamily="34" charset="0"/>
                <a:cs typeface="Arial" pitchFamily="34" charset="0"/>
              </a:rPr>
              <a:t>is a procedural query language used to query and manipulate data in a relational database management system (RDBMS).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92696" y="3733800"/>
            <a:ext cx="74295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How it works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:</a:t>
            </a:r>
            <a:r>
              <a:rPr lang="en-US" dirty="0">
                <a:latin typeface="Arial" pitchFamily="34" charset="0"/>
                <a:cs typeface="Arial" pitchFamily="34" charset="0"/>
              </a:rPr>
              <a:t> It takes one or more relations (tables) as input, applies specific mathematical operations to them, and produces a brand-new relation as output.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2696" y="4876800"/>
            <a:ext cx="708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Role in Databases:</a:t>
            </a:r>
            <a:r>
              <a:rPr lang="en-US" dirty="0">
                <a:latin typeface="Arial" pitchFamily="34" charset="0"/>
                <a:cs typeface="Arial" pitchFamily="34" charset="0"/>
              </a:rPr>
              <a:t> It serves as the theoretical and mathematical foundation for database query languages like SQL. </a:t>
            </a:r>
            <a:r>
              <a:rPr lang="en-US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When you write an SQL query, the database management system often translates it into relational algebra internally to optimize and execute it efficiently.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9138" y="2438400"/>
            <a:ext cx="739305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To practice and implement relational algebra, we use various tools, software, and programming methods.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Since it is a theoretical model,</a:t>
            </a:r>
            <a:r>
              <a:rPr lang="en-US" dirty="0">
                <a:latin typeface="Arial" pitchFamily="34" charset="0"/>
                <a:cs typeface="Arial" pitchFamily="34" charset="0"/>
              </a:rPr>
              <a:t> these main tools are used to make it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practical.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104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04900" y="1447800"/>
            <a:ext cx="742950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Who Introduced It?</a:t>
            </a:r>
          </a:p>
          <a:p>
            <a:r>
              <a:rPr lang="en-US" dirty="0"/>
              <a:t>Relational algebra was introduced by </a:t>
            </a:r>
            <a:r>
              <a:rPr lang="en-US" b="1" dirty="0"/>
              <a:t>Edgar F. (Ted) </a:t>
            </a:r>
            <a:r>
              <a:rPr lang="en-US" b="1" dirty="0" err="1"/>
              <a:t>Codd</a:t>
            </a:r>
            <a:r>
              <a:rPr lang="en-US" dirty="0"/>
              <a:t> (an English computer scientist working at IBM) in </a:t>
            </a:r>
            <a:r>
              <a:rPr lang="en-US" b="1" dirty="0"/>
              <a:t>1970</a:t>
            </a:r>
            <a:r>
              <a:rPr lang="en-US" dirty="0"/>
              <a:t>.</a:t>
            </a:r>
          </a:p>
          <a:p>
            <a:endParaRPr lang="en-US" dirty="0" smtClean="0"/>
          </a:p>
        </p:txBody>
      </p:sp>
      <p:sp>
        <p:nvSpPr>
          <p:cNvPr id="10" name="Rectangle 9"/>
          <p:cNvSpPr/>
          <p:nvPr/>
        </p:nvSpPr>
        <p:spPr>
          <a:xfrm>
            <a:off x="1212574" y="2743200"/>
            <a:ext cx="7429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He proposed it in his seminal research paper titled </a:t>
            </a:r>
            <a:r>
              <a:rPr lang="en-US" sz="2000" b="1" dirty="0"/>
              <a:t>"A Relational Model of Data for Large Shared Data Banks.</a:t>
            </a:r>
            <a:endParaRPr lang="en-US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295400" y="3886200"/>
            <a:ext cx="746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Because of this groundbreaking work, Dr. E.F. </a:t>
            </a:r>
            <a:r>
              <a:rPr lang="en-US" sz="2000" dirty="0" err="1"/>
              <a:t>Codd</a:t>
            </a:r>
            <a:r>
              <a:rPr lang="en-US" sz="2000" dirty="0"/>
              <a:t> is universally recognized as the </a:t>
            </a:r>
            <a:r>
              <a:rPr lang="en-US" sz="2000" b="1" dirty="0"/>
              <a:t>father of the relational database model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0890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04900" y="1447800"/>
            <a:ext cx="7429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Why Is It Called "Relational </a:t>
            </a:r>
            <a:r>
              <a:rPr lang="en-US" dirty="0" smtClean="0">
                <a:solidFill>
                  <a:srgbClr val="FFFF00"/>
                </a:solidFill>
              </a:rPr>
              <a:t>Algebra?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0574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name is derived from combining two distinct mathematical concepts: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2667000"/>
            <a:ext cx="7848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 : Relational.</a:t>
            </a:r>
          </a:p>
          <a:p>
            <a:r>
              <a:rPr lang="en-US" b="1" dirty="0"/>
              <a:t>In database theory, a relation is the formal, mathematical term for a table (which consists of rows/tuples and columns/attributes). Because the language operates entirely on these relational tables, it is called </a:t>
            </a:r>
            <a:r>
              <a:rPr lang="en-US" b="1" i="1" dirty="0"/>
              <a:t>relational</a:t>
            </a:r>
            <a:r>
              <a:rPr lang="en-US" b="1" dirty="0"/>
              <a:t>. 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5704" y="4267200"/>
            <a:ext cx="5152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FFFF00"/>
                </a:solidFill>
              </a:rPr>
              <a:t>2: Algebra </a:t>
            </a:r>
            <a:r>
              <a:rPr lang="en-US" sz="2000" dirty="0">
                <a:solidFill>
                  <a:srgbClr val="FFFF00"/>
                </a:solidFill>
              </a:rPr>
              <a:t>(from Mathematical Operations):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983" y="4782234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traditional algebra, you take numbers or </a:t>
            </a:r>
            <a:r>
              <a:rPr lang="en-US" dirty="0" smtClean="0"/>
              <a:t>variables(Like x and y)and apply operators (like +,-,X,</a:t>
            </a:r>
            <a:r>
              <a:rPr lang="en-US" dirty="0"/>
              <a:t> ÷</a:t>
            </a:r>
            <a:r>
              <a:rPr lang="en-US" dirty="0" smtClean="0"/>
              <a:t>) </a:t>
            </a:r>
            <a:r>
              <a:rPr lang="en-US" dirty="0"/>
              <a:t>to produce a new number.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5751731"/>
            <a:ext cx="739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Similarly, </a:t>
            </a:r>
            <a:r>
              <a:rPr lang="en-US" b="1" dirty="0"/>
              <a:t>relational algebra</a:t>
            </a:r>
            <a:r>
              <a:rPr lang="en-US" dirty="0"/>
              <a:t> consists of a set of formal operators that take </a:t>
            </a:r>
            <a:r>
              <a:rPr lang="en-US" i="1" dirty="0"/>
              <a:t>relations</a:t>
            </a:r>
            <a:r>
              <a:rPr lang="en-US" dirty="0"/>
              <a:t> (tables) as input and apply specific rules to produce a new relation.</a:t>
            </a:r>
          </a:p>
        </p:txBody>
      </p:sp>
    </p:spTree>
    <p:extLst>
      <p:ext uri="{BB962C8B-B14F-4D97-AF65-F5344CB8AC3E}">
        <p14:creationId xmlns:p14="http://schemas.microsoft.com/office/powerpoint/2010/main" val="2591382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04900" y="1135797"/>
            <a:ext cx="7429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Core Operations in Relational Algebra</a:t>
            </a:r>
            <a:endParaRPr lang="en-US" sz="24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89312" y="1597462"/>
            <a:ext cx="7926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Relational algebra operators are divided into primary categories: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312" y="28194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1--Selection (</a:t>
            </a:r>
            <a:r>
              <a:rPr lang="el-GR" sz="2000" b="1" dirty="0">
                <a:solidFill>
                  <a:srgbClr val="FF0000"/>
                </a:solidFill>
              </a:rPr>
              <a:t>σ</a:t>
            </a:r>
            <a:r>
              <a:rPr lang="en-US" sz="2000" b="1" dirty="0" smtClean="0">
                <a:solidFill>
                  <a:srgbClr val="FF0000"/>
                </a:solidFill>
              </a:rPr>
              <a:t>):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/>
              <a:t>Filters specific </a:t>
            </a:r>
            <a:r>
              <a:rPr lang="en-US" sz="2000" i="1" dirty="0"/>
              <a:t>rows</a:t>
            </a:r>
            <a:r>
              <a:rPr lang="en-US" sz="2000" dirty="0"/>
              <a:t> (tuples) that satisfy a given condition (acts like a horizontal filter)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4900" y="3657600"/>
            <a:ext cx="16610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Input Table: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96797" y="365760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Employees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27059"/>
              </p:ext>
            </p:extLst>
          </p:nvPr>
        </p:nvGraphicFramePr>
        <p:xfrm>
          <a:off x="612775" y="4419600"/>
          <a:ext cx="8229600" cy="18796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EmpID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Department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Salary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Ali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50000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102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Sara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HR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45000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103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Ahmed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60000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104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John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Finance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40000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88334" y="2212032"/>
            <a:ext cx="7273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>
                  <a:solidFill>
                    <a:srgbClr val="92D050"/>
                  </a:solidFill>
                </a:ln>
              </a:rPr>
              <a:t>Unary Operations (operate on a single table):</a:t>
            </a:r>
            <a:endParaRPr lang="en-US" b="1" dirty="0">
              <a:ln>
                <a:solidFill>
                  <a:srgbClr val="92D05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259596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1709" y="1400119"/>
            <a:ext cx="780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Suppose we want to find all employees who work in the IT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207" y="20574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 smtClean="0">
                <a:solidFill>
                  <a:srgbClr val="FFFF00"/>
                </a:solidFill>
              </a:rPr>
              <a:t>σ</a:t>
            </a:r>
            <a:r>
              <a:rPr lang="en-US" sz="2400" b="1" dirty="0" smtClean="0">
                <a:solidFill>
                  <a:srgbClr val="FFFF00"/>
                </a:solidFill>
              </a:rPr>
              <a:t>Department=‘IT’(Employes)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4961" y="2895600"/>
            <a:ext cx="4010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 Output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614816"/>
            <a:ext cx="621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selection operation acts as a horizontal filter, keeping only the rows that match the condition </a:t>
            </a:r>
            <a:r>
              <a:rPr lang="en-US" b="1" dirty="0" smtClean="0"/>
              <a:t>(</a:t>
            </a:r>
            <a:r>
              <a:rPr lang="en-US" b="1" dirty="0"/>
              <a:t>Department=‘IT</a:t>
            </a:r>
            <a:r>
              <a:rPr lang="en-US" b="1" dirty="0" smtClean="0"/>
              <a:t>’)</a:t>
            </a:r>
            <a:endParaRPr lang="en-US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329927"/>
              </p:ext>
            </p:extLst>
          </p:nvPr>
        </p:nvGraphicFramePr>
        <p:xfrm>
          <a:off x="704850" y="4648200"/>
          <a:ext cx="8229600" cy="11277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EmpID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Department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Salary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Ali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50000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103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Ahmed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60000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574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1709" y="1400119"/>
            <a:ext cx="7807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Projection(</a:t>
            </a:r>
            <a:r>
              <a:rPr lang="el-GR" b="1" dirty="0" smtClean="0">
                <a:solidFill>
                  <a:srgbClr val="FF0000"/>
                </a:solidFill>
              </a:rPr>
              <a:t>π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Selects specific </a:t>
            </a:r>
            <a:r>
              <a:rPr lang="en-US" i="1" dirty="0"/>
              <a:t>columns</a:t>
            </a:r>
            <a:r>
              <a:rPr lang="en-US" dirty="0"/>
              <a:t> (attributes) and discards the rest (acts like a vertical filter).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73207" y="2057400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Example: 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81709" y="2664767"/>
            <a:ext cx="4010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 Table: Employees</a:t>
            </a:r>
            <a:endParaRPr lang="en-US" sz="2400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569474"/>
              </p:ext>
            </p:extLst>
          </p:nvPr>
        </p:nvGraphicFramePr>
        <p:xfrm>
          <a:off x="612775" y="3581400"/>
          <a:ext cx="8229600" cy="18796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EmpID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Department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Salary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Ali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50000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102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Sara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HR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45000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103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Ahmed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60000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104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John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Finance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40000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945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1709" y="1112315"/>
            <a:ext cx="7807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Relational Algebra Expression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Suppose </a:t>
            </a:r>
            <a:r>
              <a:rPr lang="en-US" dirty="0">
                <a:latin typeface="Arial" pitchFamily="34" charset="0"/>
                <a:cs typeface="Arial" pitchFamily="34" charset="0"/>
              </a:rPr>
              <a:t>we only want to see the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Name</a:t>
            </a:r>
            <a:r>
              <a:rPr lang="en-US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Salary</a:t>
            </a:r>
            <a:r>
              <a:rPr lang="en-US" dirty="0">
                <a:latin typeface="Arial" pitchFamily="34" charset="0"/>
                <a:cs typeface="Arial" pitchFamily="34" charset="0"/>
              </a:rPr>
              <a:t> of all employees, and we don't need their </a:t>
            </a:r>
            <a:r>
              <a:rPr lang="en-US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EmpID </a:t>
            </a:r>
            <a:r>
              <a:rPr lang="en-US" dirty="0">
                <a:latin typeface="Arial" pitchFamily="34" charset="0"/>
                <a:cs typeface="Arial" pitchFamily="34" charset="0"/>
              </a:rPr>
              <a:t>or </a:t>
            </a:r>
            <a:r>
              <a:rPr lang="en-US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Department.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1709" y="2203102"/>
            <a:ext cx="5928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Write The Operation Like this 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649" y="2657061"/>
            <a:ext cx="4775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π</a:t>
            </a:r>
            <a:r>
              <a:rPr lang="en-US" sz="24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Name,Salary (Employees)</a:t>
            </a:r>
            <a:endParaRPr lang="en-US" sz="2400" b="1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19200" y="3244334"/>
            <a:ext cx="17732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Output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0375" y="3684297"/>
            <a:ext cx="84285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The projection operation acts as a vertical filter, keeping only the specified columns and discarding the rest: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333545"/>
              </p:ext>
            </p:extLst>
          </p:nvPr>
        </p:nvGraphicFramePr>
        <p:xfrm>
          <a:off x="457200" y="4648200"/>
          <a:ext cx="8229600" cy="18288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50000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45000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60000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797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1709" y="1112315"/>
            <a:ext cx="7807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>
                  <a:solidFill>
                    <a:srgbClr val="92D050"/>
                  </a:solidFill>
                </a:ln>
              </a:rPr>
              <a:t>Binary Operations (operate on two tables):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2696" y="1741437"/>
            <a:ext cx="7265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1: Union (U):</a:t>
            </a:r>
            <a:r>
              <a:rPr lang="en-US" sz="24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Combines rows from two compatible tables while removing duplicates.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95400" y="281940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</a:t>
            </a:r>
            <a:r>
              <a:rPr lang="en-US" dirty="0" smtClean="0"/>
              <a:t>Tables: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327702" y="342900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(Note: For a Union operation to work, both tables must be union-compatible, meaning they must have the exact same columns and data types).</a:t>
            </a:r>
          </a:p>
        </p:txBody>
      </p:sp>
    </p:spTree>
    <p:extLst>
      <p:ext uri="{BB962C8B-B14F-4D97-AF65-F5344CB8AC3E}">
        <p14:creationId xmlns:p14="http://schemas.microsoft.com/office/powerpoint/2010/main" val="3323116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95400" y="1371600"/>
            <a:ext cx="541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Table 1: </a:t>
            </a:r>
            <a:r>
              <a:rPr lang="en-US" sz="2000" b="1" dirty="0" err="1" smtClean="0"/>
              <a:t>A_Table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949724"/>
              </p:ext>
            </p:extLst>
          </p:nvPr>
        </p:nvGraphicFramePr>
        <p:xfrm>
          <a:off x="619401" y="2133600"/>
          <a:ext cx="8229600" cy="11277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RollNo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Ali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102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Sara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95400" y="35814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Table 2: </a:t>
            </a:r>
            <a:r>
              <a:rPr lang="en-US" sz="2000" b="1" dirty="0" err="1" smtClean="0"/>
              <a:t>B_Table</a:t>
            </a:r>
            <a:endParaRPr lang="en-US" sz="2000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004424"/>
              </p:ext>
            </p:extLst>
          </p:nvPr>
        </p:nvGraphicFramePr>
        <p:xfrm>
          <a:off x="503445" y="4343400"/>
          <a:ext cx="8229600" cy="11277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RollNo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102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Sara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16256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103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Ahmed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17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95400" y="137160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Relational Algebra Expression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098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</a:rPr>
              <a:t>A_Table</a:t>
            </a:r>
            <a:r>
              <a:rPr lang="en-US" sz="2400" b="1" dirty="0" smtClean="0">
                <a:solidFill>
                  <a:srgbClr val="FF0000"/>
                </a:solidFill>
              </a:rPr>
              <a:t> U </a:t>
            </a:r>
            <a:r>
              <a:rPr lang="en-US" sz="2400" b="1" dirty="0" err="1" smtClean="0">
                <a:solidFill>
                  <a:srgbClr val="FF0000"/>
                </a:solidFill>
              </a:rPr>
              <a:t>B_Table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2875002"/>
            <a:ext cx="3200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Output Table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398222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union operation merges all rows from both tables and automatically discards duplicate rows (such as "Sara" who appeared in both tables)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905778"/>
              </p:ext>
            </p:extLst>
          </p:nvPr>
        </p:nvGraphicFramePr>
        <p:xfrm>
          <a:off x="635966" y="4572000"/>
          <a:ext cx="8229600" cy="1503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RollNo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Ali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102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Sara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103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Ahmed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209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95400" y="1371600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2: Cartesian 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Product </a:t>
            </a:r>
            <a:r>
              <a:rPr lang="en-US" sz="24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(X):</a:t>
            </a:r>
            <a:r>
              <a:rPr lang="en-US" sz="24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Combines every row of one table with every row of another table.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22098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95400" y="2220746"/>
            <a:ext cx="708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Cartesian Product</a:t>
            </a:r>
            <a:r>
              <a:rPr lang="en-US" dirty="0">
                <a:latin typeface="Arial" pitchFamily="34" charset="0"/>
                <a:cs typeface="Arial" pitchFamily="34" charset="0"/>
              </a:rPr>
              <a:t> (represented by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X) </a:t>
            </a:r>
            <a:r>
              <a:rPr lang="en-US" dirty="0">
                <a:latin typeface="Arial" pitchFamily="34" charset="0"/>
                <a:cs typeface="Arial" pitchFamily="34" charset="0"/>
              </a:rPr>
              <a:t>combines every row of the first table with every row of the second table. If Table A has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“n” </a:t>
            </a:r>
            <a:r>
              <a:rPr lang="en-US" dirty="0">
                <a:latin typeface="Arial" pitchFamily="34" charset="0"/>
                <a:cs typeface="Arial" pitchFamily="34" charset="0"/>
              </a:rPr>
              <a:t>rows and Table B has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“m” </a:t>
            </a:r>
            <a:r>
              <a:rPr lang="en-US" dirty="0">
                <a:latin typeface="Arial" pitchFamily="34" charset="0"/>
                <a:cs typeface="Arial" pitchFamily="34" charset="0"/>
              </a:rPr>
              <a:t>rows, their Cartesian product will have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X m  </a:t>
            </a:r>
            <a:r>
              <a:rPr lang="en-US" dirty="0">
                <a:latin typeface="Arial" pitchFamily="34" charset="0"/>
                <a:cs typeface="Arial" pitchFamily="34" charset="0"/>
              </a:rPr>
              <a:t>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657600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</a:t>
            </a:r>
            <a:r>
              <a:rPr lang="en-US" dirty="0" smtClean="0"/>
              <a:t>Tables: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371600" y="4267200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1: Student (2 rows)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808520"/>
              </p:ext>
            </p:extLst>
          </p:nvPr>
        </p:nvGraphicFramePr>
        <p:xfrm>
          <a:off x="723900" y="4953000"/>
          <a:ext cx="8229600" cy="11277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Ali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Sara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102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71600" y="22098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8700" y="1219200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Table 2: Department (2 rows)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78705"/>
              </p:ext>
            </p:extLst>
          </p:nvPr>
        </p:nvGraphicFramePr>
        <p:xfrm>
          <a:off x="647700" y="1981200"/>
          <a:ext cx="8229600" cy="11277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DeptCode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DeptName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D2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IT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914400" y="3505200"/>
            <a:ext cx="4458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Relational Algebra Expression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5000" y="4495800"/>
            <a:ext cx="472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Student X Department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457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19200" y="1135797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. Output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Table: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Since Table Student has 2 rows and Table Department has 2 rows, the output will contain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2 X </a:t>
            </a:r>
            <a:r>
              <a:rPr lang="en-US" dirty="0">
                <a:latin typeface="Arial" pitchFamily="34" charset="0"/>
                <a:cs typeface="Arial" pitchFamily="34" charset="0"/>
              </a:rPr>
              <a:t>2 =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4 rows</a:t>
            </a:r>
            <a:r>
              <a:rPr lang="en-US" dirty="0">
                <a:latin typeface="Arial" pitchFamily="34" charset="0"/>
                <a:cs typeface="Arial" pitchFamily="34" charset="0"/>
              </a:rPr>
              <a:t>, pairing each student with every department: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9197"/>
              </p:ext>
            </p:extLst>
          </p:nvPr>
        </p:nvGraphicFramePr>
        <p:xfrm>
          <a:off x="457200" y="2902902"/>
          <a:ext cx="8229600" cy="21031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Student.ID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Student.Name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Department.DeptCode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Department.DeptName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116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04800"/>
            <a:ext cx="891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Tools To Implement 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0" y="13716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1 :Relational </a:t>
            </a:r>
            <a:r>
              <a:rPr lang="en-US" dirty="0">
                <a:latin typeface="Arial" pitchFamily="34" charset="0"/>
                <a:cs typeface="Arial" pitchFamily="34" charset="0"/>
              </a:rPr>
              <a:t>Database Management Systems (RDBMS) via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SQL (Structured Query Language) is actually a practical implementation of Relational Algebra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338" y="2971800"/>
            <a:ext cx="55526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Tools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:</a:t>
            </a:r>
            <a:r>
              <a:rPr lang="en-US" dirty="0">
                <a:latin typeface="Arial" pitchFamily="34" charset="0"/>
                <a:cs typeface="Arial" pitchFamily="34" charset="0"/>
              </a:rPr>
              <a:t> MySQL,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PostgreSQL</a:t>
            </a:r>
            <a:r>
              <a:rPr lang="en-US" dirty="0">
                <a:latin typeface="Arial" pitchFamily="34" charset="0"/>
                <a:cs typeface="Arial" pitchFamily="34" charset="0"/>
              </a:rPr>
              <a:t>, SQLite,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aur</a:t>
            </a:r>
            <a:r>
              <a:rPr lang="en-US" dirty="0">
                <a:latin typeface="Arial" pitchFamily="34" charset="0"/>
                <a:cs typeface="Arial" pitchFamily="34" charset="0"/>
              </a:rPr>
              <a:t> SQL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172" y="3891242"/>
            <a:ext cx="4714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C000"/>
                </a:solidFill>
              </a:rPr>
              <a:t>How It Works ?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172" y="4495800"/>
            <a:ext cx="70170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How it works: When you write an SQL query (like SELECT * FROM students WHERE marks &gt; 80), the database's Query Optimizer converts that SQL query into internal Relational Algebra expressions and executes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it.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45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Tools To Implement Relational Algebra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0" y="1371600"/>
            <a:ext cx="723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2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: Python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(Pandas Library)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1981200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What it is: Python's Pandas library is used for data manipulation, and its operations directly match Relational Algebra: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2819400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Selection </a:t>
            </a:r>
            <a:r>
              <a:rPr lang="en-US" sz="2400" dirty="0" smtClean="0"/>
              <a:t>(</a:t>
            </a:r>
            <a:r>
              <a:rPr lang="el-GR" sz="2400" dirty="0" smtClean="0"/>
              <a:t>σ</a:t>
            </a:r>
            <a:r>
              <a:rPr lang="en-US" sz="2400" dirty="0" smtClean="0"/>
              <a:t>): </a:t>
            </a:r>
            <a:r>
              <a:rPr lang="en-US" sz="2400" dirty="0"/>
              <a:t>For filtering rows (</a:t>
            </a:r>
            <a:r>
              <a:rPr lang="en-US" sz="2400" dirty="0" err="1"/>
              <a:t>df</a:t>
            </a:r>
            <a:r>
              <a:rPr lang="en-US" sz="2400" dirty="0"/>
              <a:t>[</a:t>
            </a:r>
            <a:r>
              <a:rPr lang="en-US" sz="2400" dirty="0" err="1"/>
              <a:t>df</a:t>
            </a:r>
            <a:r>
              <a:rPr lang="en-US" sz="2400" dirty="0"/>
              <a:t>['marks'] &gt; 80])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429000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Projection </a:t>
            </a:r>
            <a:r>
              <a:rPr lang="en-US" sz="20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l-GR" sz="20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π</a:t>
            </a:r>
            <a:r>
              <a:rPr lang="en-US" sz="20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): </a:t>
            </a:r>
            <a:r>
              <a:rPr lang="en-US" sz="20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For selecting columns (</a:t>
            </a:r>
            <a:r>
              <a:rPr lang="en-US" sz="2000" dirty="0" err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df</a:t>
            </a:r>
            <a:r>
              <a:rPr lang="en-US" sz="20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[['name', 'marks']])</a:t>
            </a:r>
          </a:p>
        </p:txBody>
      </p:sp>
    </p:spTree>
    <p:extLst>
      <p:ext uri="{BB962C8B-B14F-4D97-AF65-F5344CB8AC3E}">
        <p14:creationId xmlns:p14="http://schemas.microsoft.com/office/powerpoint/2010/main" val="1854835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04900" y="1447800"/>
            <a:ext cx="7429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It is the Process of Organizing data in database . By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spiliting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large messy tables into smaller One . 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" y="2438400"/>
            <a:ext cx="7429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It is a systematic approach of organizing data in a relational database to minimize data redundancy (duplication) and prevent data anomalies (errors during data operations).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8256" y="3962400"/>
            <a:ext cx="42116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Why Do We Need Normalization?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54760" y="4539734"/>
            <a:ext cx="6566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If data is heavily duplicated, it leads to three major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anomalies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23527" y="5069676"/>
            <a:ext cx="2146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Insertion Anomaly 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919" y="5663862"/>
            <a:ext cx="21387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Update  Anomaly 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3527" y="6209505"/>
            <a:ext cx="2305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Deletion   Anomaly !</a:t>
            </a:r>
          </a:p>
        </p:txBody>
      </p:sp>
    </p:spTree>
    <p:extLst>
      <p:ext uri="{BB962C8B-B14F-4D97-AF65-F5344CB8AC3E}">
        <p14:creationId xmlns:p14="http://schemas.microsoft.com/office/powerpoint/2010/main" val="2619757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04900" y="1447800"/>
            <a:ext cx="7429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Insertion Anomaly : You cannot insert certain data without adding dummy or unrelated data point 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" y="2438400"/>
            <a:ext cx="7429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latin typeface="Arial" pitchFamily="34" charset="0"/>
                <a:cs typeface="Arial" pitchFamily="34" charset="0"/>
              </a:rPr>
              <a:t>Example: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You cannot add a new course to a table unless at least one student is enrolled in it.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3084731"/>
            <a:ext cx="9144000" cy="3581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78861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04900" y="1447800"/>
            <a:ext cx="7429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Update Anomaly: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Occurs when a duplicate piece of data is updated in one row or table but not everywhere else it appears, leading to data inconsistency and conflicting information.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8152" y="2804922"/>
            <a:ext cx="7429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latin typeface="Arial" pitchFamily="34" charset="0"/>
                <a:cs typeface="Arial" pitchFamily="34" charset="0"/>
              </a:rPr>
              <a:t>Example: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If a student changes their address, but the change is only updated in one row out of five where their record appears.</a:t>
            </a:r>
          </a:p>
        </p:txBody>
      </p:sp>
    </p:spTree>
    <p:extLst>
      <p:ext uri="{BB962C8B-B14F-4D97-AF65-F5344CB8AC3E}">
        <p14:creationId xmlns:p14="http://schemas.microsoft.com/office/powerpoint/2010/main" val="3768149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98274" y="1295400"/>
            <a:ext cx="7429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Deletion Anomaly: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Occurs when deleting a specific piece of data unintentionally results in the loss of other, unrelated information stored in the same row.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8152" y="2362200"/>
            <a:ext cx="7429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latin typeface="Arial" pitchFamily="34" charset="0"/>
                <a:cs typeface="Arial" pitchFamily="34" charset="0"/>
              </a:rPr>
              <a:t>Example: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Deleting the last student enrolled in a course accidentally erases all records and details about that course from the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958260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1. The Unnormalized Table (Course_Enrollments)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799651"/>
              </p:ext>
            </p:extLst>
          </p:nvPr>
        </p:nvGraphicFramePr>
        <p:xfrm>
          <a:off x="599523" y="3810000"/>
          <a:ext cx="8229600" cy="26009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Student_ID</a:t>
                      </a:r>
                      <a:endParaRPr lang="en-US" dirty="0"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Student_Name</a:t>
                      </a:r>
                      <a:endParaRPr lang="en-US" dirty="0"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Course_ID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Course_Name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Department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Course_Fee</a:t>
                      </a: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101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Sara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Arial" pitchFamily="34" charset="0"/>
                          <a:cs typeface="Arial" pitchFamily="34" charset="0"/>
                        </a:rPr>
                        <a:t>CS-101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Arial" pitchFamily="34" charset="0"/>
                          <a:cs typeface="Arial" pitchFamily="34" charset="0"/>
                        </a:rPr>
                        <a:t>Intro to DB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Computer Science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$500</a:t>
                      </a: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102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Usman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CS-101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Intro to DB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Computer Science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$500</a:t>
                      </a: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103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Ali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Arial" pitchFamily="34" charset="0"/>
                          <a:cs typeface="Arial" pitchFamily="34" charset="0"/>
                        </a:rPr>
                        <a:t>CS-401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Machine Learning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Arial" pitchFamily="34" charset="0"/>
                          <a:cs typeface="Arial" pitchFamily="34" charset="0"/>
                        </a:rPr>
                        <a:t>AI Dept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Arial" pitchFamily="34" charset="0"/>
                          <a:cs typeface="Arial" pitchFamily="34" charset="0"/>
                        </a:rPr>
                        <a:t>$800</a:t>
                      </a: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871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990600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1. The </a:t>
            </a:r>
            <a:r>
              <a:rPr lang="en-US" b="1" dirty="0" err="1" smtClean="0"/>
              <a:t>Unnormalized</a:t>
            </a:r>
            <a:r>
              <a:rPr lang="en-US" b="1" dirty="0" smtClean="0"/>
              <a:t> Table (</a:t>
            </a:r>
            <a:r>
              <a:rPr lang="en-US" b="1" dirty="0" err="1" smtClean="0"/>
              <a:t>Course_Enrollments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143000" y="1676400"/>
            <a:ext cx="723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Suppose a university stores student enrollments and course details in one combined table. Currently, </a:t>
            </a:r>
            <a:r>
              <a:rPr lang="en-US" sz="2000" b="1" dirty="0" smtClean="0"/>
              <a:t>Advanced Machine Learning (CS-401)</a:t>
            </a:r>
            <a:r>
              <a:rPr lang="en-US" sz="2000" dirty="0" smtClean="0"/>
              <a:t> has only </a:t>
            </a:r>
            <a:r>
              <a:rPr lang="en-US" sz="2000" b="1" dirty="0" smtClean="0"/>
              <a:t>one student</a:t>
            </a:r>
            <a:r>
              <a:rPr lang="en-US" sz="2000" dirty="0" smtClean="0"/>
              <a:t> enrolled (Ali):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143000" y="2790877"/>
            <a:ext cx="723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Suppose Ali decides to drop out or cancel his registration for </a:t>
            </a:r>
            <a:r>
              <a:rPr lang="en-US" b="1" dirty="0" smtClean="0"/>
              <a:t>CS-401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administrator executes a standard DELETE operation to remove Ali's enrollment record: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66800" y="3970316"/>
            <a:ext cx="723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The Problem (Unintended Loss of Data)</a:t>
            </a:r>
          </a:p>
          <a:p>
            <a:r>
              <a:rPr lang="en-US" dirty="0" smtClean="0"/>
              <a:t>Because Ali was the </a:t>
            </a:r>
            <a:r>
              <a:rPr lang="en-US" b="1" dirty="0" smtClean="0"/>
              <a:t>only student</a:t>
            </a:r>
            <a:r>
              <a:rPr lang="en-US" dirty="0" smtClean="0"/>
              <a:t> in CS-401, deleting his row completely wiped out: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219200" y="5105400"/>
            <a:ext cx="723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fact that the course </a:t>
            </a:r>
            <a:r>
              <a:rPr lang="en-US" b="1" dirty="0" smtClean="0"/>
              <a:t>CS-401 (Machine Learning)</a:t>
            </a:r>
            <a:r>
              <a:rPr lang="en-US" dirty="0" smtClean="0"/>
              <a:t> even exists at the university.</a:t>
            </a:r>
          </a:p>
          <a:p>
            <a:r>
              <a:rPr lang="en-US" dirty="0" smtClean="0"/>
              <a:t>The department offering it (</a:t>
            </a:r>
            <a:r>
              <a:rPr lang="en-US" b="1" dirty="0" smtClean="0"/>
              <a:t>AI </a:t>
            </a:r>
            <a:r>
              <a:rPr lang="en-US" b="1" dirty="0" err="1" smtClean="0"/>
              <a:t>Dept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 fee structure (</a:t>
            </a:r>
            <a:r>
              <a:rPr lang="en-US" b="1" dirty="0" smtClean="0"/>
              <a:t>$800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486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371600" y="1447800"/>
            <a:ext cx="7086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Database normalization is divided into 5 primary forms:</a:t>
            </a:r>
            <a:endParaRPr lang="en-US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1295400" y="2133600"/>
            <a:ext cx="6400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First Normal Form (1NF)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1295400" y="2920521"/>
            <a:ext cx="33954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S</a:t>
            </a:r>
            <a:r>
              <a:rPr lang="en-US" sz="2000" b="1" dirty="0" smtClean="0"/>
              <a:t>econd Normal Form (2NF)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1295400" y="3652414"/>
            <a:ext cx="32736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Third Normal Form (3NF):</a:t>
            </a:r>
            <a:endParaRPr lang="en-US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1371600" y="4354923"/>
            <a:ext cx="42594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Boyce-</a:t>
            </a:r>
            <a:r>
              <a:rPr lang="en-US" sz="2000" b="1" dirty="0" err="1" smtClean="0"/>
              <a:t>Codd</a:t>
            </a:r>
            <a:r>
              <a:rPr lang="en-US" sz="2000" b="1" dirty="0" smtClean="0"/>
              <a:t> Normal Form (BCNF):</a:t>
            </a:r>
            <a:endParaRPr lang="en-US" sz="2000" b="1" dirty="0"/>
          </a:p>
        </p:txBody>
      </p:sp>
      <p:sp>
        <p:nvSpPr>
          <p:cNvPr id="15" name="Rectangle 14"/>
          <p:cNvSpPr/>
          <p:nvPr/>
        </p:nvSpPr>
        <p:spPr>
          <a:xfrm>
            <a:off x="1439670" y="5105400"/>
            <a:ext cx="3357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Fourth Normal Form (4NF):</a:t>
            </a:r>
            <a:endParaRPr lang="en-US" sz="2000" b="1" dirty="0"/>
          </a:p>
        </p:txBody>
      </p:sp>
      <p:sp>
        <p:nvSpPr>
          <p:cNvPr id="16" name="Rectangle 15"/>
          <p:cNvSpPr/>
          <p:nvPr/>
        </p:nvSpPr>
        <p:spPr>
          <a:xfrm>
            <a:off x="1439670" y="5715000"/>
            <a:ext cx="31726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Fifth Normal Form (5NF):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98322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79876" y="1295400"/>
            <a:ext cx="64925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Arial" pitchFamily="34" charset="0"/>
                <a:cs typeface="Arial" pitchFamily="34" charset="0"/>
              </a:rPr>
              <a:t>First Normal Form (1NF)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2362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Rule1: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03852" y="2971800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Each Column Should Contain Atomic Values .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076739" y="3498429"/>
            <a:ext cx="7301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Entries Like </a:t>
            </a:r>
            <a:r>
              <a:rPr lang="en-US" sz="2400" b="1" dirty="0" smtClean="0"/>
              <a:t>X,Y</a:t>
            </a:r>
            <a:r>
              <a:rPr lang="en-US" dirty="0" smtClean="0"/>
              <a:t> and </a:t>
            </a:r>
            <a:r>
              <a:rPr lang="en-US" sz="2400" b="1" dirty="0" smtClean="0"/>
              <a:t>W,X</a:t>
            </a:r>
            <a:r>
              <a:rPr lang="en-US" dirty="0" smtClean="0"/>
              <a:t> Violate this Rule.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655736"/>
              </p:ext>
            </p:extLst>
          </p:nvPr>
        </p:nvGraphicFramePr>
        <p:xfrm>
          <a:off x="622714" y="4419600"/>
          <a:ext cx="8229600" cy="1879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column1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effectLst/>
                          <a:latin typeface="Google Sans Text"/>
                        </a:rPr>
                        <a:t>column2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X, Y </a:t>
                      </a:r>
                      <a:r>
                        <a:rPr lang="en-US" dirty="0" smtClean="0">
                          <a:effectLst/>
                          <a:latin typeface="Google Sans Text"/>
                        </a:rPr>
                        <a:t>    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B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W, X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Y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D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Z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2672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79876" y="1295400"/>
            <a:ext cx="64925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First Normal Form (1NF)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990600" y="2362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Rule2: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03852" y="2971800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Column Should Contain Values  that are of the same type.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57470" y="3960094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Example!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80052" y="3585720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 not Inter-Mix Different Types of values in any column.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89929"/>
              </p:ext>
            </p:extLst>
          </p:nvPr>
        </p:nvGraphicFramePr>
        <p:xfrm>
          <a:off x="540026" y="4572000"/>
          <a:ext cx="8229600" cy="1879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DOB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20-10-89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13-2-92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SK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16-11-65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SA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8-9-88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79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79876" y="1295400"/>
            <a:ext cx="64925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First Normal Form (1NF)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003852" y="1979616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Rule3: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74035" y="2378765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Each Column Should have a Unique Name .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57470" y="3960094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Example!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80052" y="3585720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 not Inter-Mix Different Types of values in any column.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80052" y="2971800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Each names Should leads to Confusion at the time of Data retrieval 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304543"/>
              </p:ext>
            </p:extLst>
          </p:nvPr>
        </p:nvGraphicFramePr>
        <p:xfrm>
          <a:off x="411338" y="4953000"/>
          <a:ext cx="8229600" cy="37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DOB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Name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Name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75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79876" y="1295400"/>
            <a:ext cx="64925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First Normal Form (1NF)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003852" y="1979616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Rule4: 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4035" y="2378765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Order in Which Data is Saved Does not matter !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3852" y="3657600"/>
            <a:ext cx="730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Example!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74035" y="2973384"/>
            <a:ext cx="760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Using SQL Query , You can Easily fetch data in any order from a table.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616661"/>
              </p:ext>
            </p:extLst>
          </p:nvPr>
        </p:nvGraphicFramePr>
        <p:xfrm>
          <a:off x="662609" y="4419600"/>
          <a:ext cx="8229600" cy="1879600"/>
        </p:xfrm>
        <a:graphic>
          <a:graphicData uri="http://schemas.openxmlformats.org/drawingml/2006/table">
            <a:tbl>
              <a:tblPr/>
              <a:tblGrid>
                <a:gridCol w="3789947"/>
                <a:gridCol w="4439653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Roll_no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92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Normalization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79876" y="1129171"/>
            <a:ext cx="64925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First Normal Form (1NF)</a:t>
            </a:r>
            <a:endParaRPr lang="en-US" sz="32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228179"/>
              </p:ext>
            </p:extLst>
          </p:nvPr>
        </p:nvGraphicFramePr>
        <p:xfrm>
          <a:off x="612775" y="1880175"/>
          <a:ext cx="8229600" cy="1503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rollno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name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subject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Akon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OS, CN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103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CKON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Java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102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BKON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C, C++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353488"/>
              </p:ext>
            </p:extLst>
          </p:nvPr>
        </p:nvGraphicFramePr>
        <p:xfrm>
          <a:off x="596210" y="3733800"/>
          <a:ext cx="8229600" cy="22555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roll no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name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subject 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Akon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OS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Akon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103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CKON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Java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102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BKON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102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Google Sans Text"/>
                        </a:rPr>
                        <a:t>BKon</a:t>
                      </a:r>
                      <a:r>
                        <a:rPr lang="en-US" dirty="0"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C++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71600" y="609600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 Now Our Table is in 1NF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91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2_NF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14400" y="10079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For A table to be in the second Normal form .it must Follows 2 Conditions. 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10748" y="1737764"/>
            <a:ext cx="647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1 : It should be in first Normal Form. </a:t>
            </a:r>
            <a:endParaRPr 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510748" y="2158231"/>
            <a:ext cx="7404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</a:t>
            </a:r>
            <a:r>
              <a:rPr lang="en-US" sz="2000" b="1" dirty="0" smtClean="0"/>
              <a:t> : It should not have any partial Dependencies in the Table. 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517374" y="2645970"/>
            <a:ext cx="6871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a Dependency (Functional Dependency)?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3110225"/>
            <a:ext cx="6871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That means one column completely depends on another column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1510748" y="4057471"/>
            <a:ext cx="701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Example:</a:t>
            </a:r>
            <a:r>
              <a:rPr lang="en-US" dirty="0"/>
              <a:t> In a student table, if you know the </a:t>
            </a:r>
            <a:r>
              <a:rPr lang="en-US" b="1" dirty="0"/>
              <a:t>roll no</a:t>
            </a:r>
            <a:r>
              <a:rPr lang="en-US" dirty="0"/>
              <a:t>, you instantly know the student's </a:t>
            </a:r>
            <a:r>
              <a:rPr lang="en-US" b="1" dirty="0"/>
              <a:t>name</a:t>
            </a:r>
            <a:r>
              <a:rPr lang="en-US" dirty="0"/>
              <a:t> (e.g., Roll No 101 always belongs to Akon). We write this as: </a:t>
            </a:r>
          </a:p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819400" y="52578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Roll_No </a:t>
            </a:r>
            <a:r>
              <a:rPr lang="en-US" dirty="0" smtClean="0">
                <a:sym typeface="Wingdings" pitchFamily="2" charset="2"/>
              </a:rPr>
              <a:t> Name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464365" y="5715000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Means Roll No  determines  name . That means name is depend on Roll no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26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2_NF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13622" y="1007900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a Partial Dependency?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799" y="1733874"/>
            <a:ext cx="7407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partial dependency</a:t>
            </a:r>
            <a:r>
              <a:rPr lang="en-US" dirty="0"/>
              <a:t> happens when a table has a </a:t>
            </a:r>
            <a:r>
              <a:rPr lang="en-US" b="1" dirty="0"/>
              <a:t>composite primary key</a:t>
            </a:r>
            <a:r>
              <a:rPr lang="en-US" dirty="0"/>
              <a:t> (a primary key made of two or more columns combined), and a non-key column depends on </a:t>
            </a:r>
            <a:r>
              <a:rPr lang="en-US" b="1" dirty="0"/>
              <a:t>only a part</a:t>
            </a:r>
            <a:r>
              <a:rPr lang="en-US" dirty="0"/>
              <a:t> of that primary key instead of the whole 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6070" y="3200400"/>
            <a:ext cx="701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 Using </a:t>
            </a:r>
            <a:r>
              <a:rPr lang="en-US" sz="2000" b="1" dirty="0" smtClean="0"/>
              <a:t> </a:t>
            </a:r>
            <a:r>
              <a:rPr lang="en-US" sz="2000" b="1" dirty="0"/>
              <a:t>Student Table (roll no, name, subject)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59911"/>
              </p:ext>
            </p:extLst>
          </p:nvPr>
        </p:nvGraphicFramePr>
        <p:xfrm>
          <a:off x="762000" y="3962400"/>
          <a:ext cx="8229600" cy="1503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Roll No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Subject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Akon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OS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Akon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103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CKON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00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2_NF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13622" y="1007900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a Partial Dependency?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799" y="1733874"/>
            <a:ext cx="7407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Primary Key:</a:t>
            </a:r>
            <a:r>
              <a:rPr lang="en-US" dirty="0"/>
              <a:t> Because one student can take multiple subjects (like Roll No 101 taking both OS and CN), a single roll no cannot uniquely identify a row. Therefore, the </a:t>
            </a:r>
            <a:r>
              <a:rPr lang="en-US" b="1" dirty="0"/>
              <a:t>Primary Key</a:t>
            </a:r>
            <a:r>
              <a:rPr lang="en-US" dirty="0"/>
              <a:t> is a combination of </a:t>
            </a:r>
            <a:r>
              <a:rPr lang="en-US" b="1" dirty="0"/>
              <a:t>both</a:t>
            </a:r>
            <a:r>
              <a:rPr lang="en-US" dirty="0"/>
              <a:t> </a:t>
            </a:r>
            <a:r>
              <a:rPr lang="en-US" dirty="0" smtClean="0"/>
              <a:t>columns.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86070" y="3200400"/>
            <a:ext cx="701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So Primary key = (Roll no , Subject )</a:t>
            </a:r>
            <a:endParaRPr lang="en-US" sz="20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679497"/>
              </p:ext>
            </p:extLst>
          </p:nvPr>
        </p:nvGraphicFramePr>
        <p:xfrm>
          <a:off x="762000" y="3962400"/>
          <a:ext cx="8229600" cy="1503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Roll No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Name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Subject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Akon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OS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Akon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103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CKON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70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2_NF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13622" y="1007900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Dependency Problem: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66799" y="1733874"/>
            <a:ext cx="740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Does name depend on both roll no and subject? </a:t>
            </a:r>
            <a:r>
              <a:rPr lang="en-US" b="1" dirty="0"/>
              <a:t>No.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66799" y="2235150"/>
            <a:ext cx="7407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depends </a:t>
            </a:r>
            <a:r>
              <a:rPr lang="en-US" i="1" dirty="0"/>
              <a:t>only</a:t>
            </a:r>
            <a:r>
              <a:rPr lang="en-US" dirty="0"/>
              <a:t> on the roll no. Whether Roll No 101 takes OS or CN, the name remains Akon.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677" y="3033882"/>
            <a:ext cx="7407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name depends on just a </a:t>
            </a:r>
            <a:r>
              <a:rPr lang="en-US" i="1" dirty="0"/>
              <a:t>part</a:t>
            </a:r>
            <a:r>
              <a:rPr lang="en-US" dirty="0"/>
              <a:t> of the primary key (roll no), this creates a </a:t>
            </a:r>
            <a:r>
              <a:rPr lang="en-US" b="1" dirty="0"/>
              <a:t>partial </a:t>
            </a:r>
            <a:r>
              <a:rPr lang="en-US" b="1" dirty="0" smtClean="0"/>
              <a:t>dependency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62200" y="41910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Roll no </a:t>
            </a:r>
            <a:r>
              <a:rPr lang="en-US" dirty="0" smtClean="0">
                <a:sym typeface="Wingdings" pitchFamily="2" charset="2"/>
              </a:rPr>
              <a:t>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4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2_NF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13622" y="1007900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 2NF Forbids It &amp; How to Fix </a:t>
            </a:r>
            <a:r>
              <a:rPr lang="en-US" sz="2400" dirty="0" smtClean="0"/>
              <a:t>It ? 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66799" y="1733874"/>
            <a:ext cx="740796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Second Normal Form (2NF)</a:t>
            </a:r>
            <a:r>
              <a:rPr lang="en-US" dirty="0">
                <a:latin typeface="Arial" pitchFamily="34" charset="0"/>
                <a:cs typeface="Arial" pitchFamily="34" charset="0"/>
              </a:rPr>
              <a:t> states that a table must be in 1NF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and</a:t>
            </a:r>
            <a:r>
              <a:rPr lang="en-US" dirty="0">
                <a:latin typeface="Arial" pitchFamily="34" charset="0"/>
                <a:cs typeface="Arial" pitchFamily="34" charset="0"/>
              </a:rPr>
              <a:t> have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no partial dependencies</a:t>
            </a:r>
            <a:r>
              <a:rPr lang="en-US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every non-key attribute must depend on the </a:t>
            </a:r>
            <a:r>
              <a:rPr lang="en-US" sz="2000" b="1" i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entire</a:t>
            </a:r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primary key</a:t>
            </a:r>
            <a:r>
              <a:rPr lang="en-US" dirty="0">
                <a:latin typeface="Arial" pitchFamily="34" charset="0"/>
                <a:cs typeface="Arial" pitchFamily="34" charset="0"/>
              </a:rPr>
              <a:t>, not just a part of it).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971800"/>
            <a:ext cx="647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Partial dependencies cause data redundancy and update anomalies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(ex, </a:t>
            </a:r>
            <a:r>
              <a:rPr lang="en-US" dirty="0">
                <a:latin typeface="Arial" pitchFamily="34" charset="0"/>
                <a:cs typeface="Arial" pitchFamily="34" charset="0"/>
              </a:rPr>
              <a:t>repeating "Akon" multiple times for every subject they take)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2476" y="4030173"/>
            <a:ext cx="624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To satisfy 2NF, we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split the table into two separate tables</a:t>
            </a:r>
            <a:r>
              <a:rPr lang="en-US" dirty="0">
                <a:latin typeface="Arial" pitchFamily="34" charset="0"/>
                <a:cs typeface="Arial" pitchFamily="34" charset="0"/>
              </a:rPr>
              <a:t> to eliminate the partial dependency: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3259" y="4989731"/>
            <a:ext cx="2121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Table 1 (Students):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648" y="5387725"/>
            <a:ext cx="29240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Primary Key: roll no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Columns: roll no, name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55635" y="5018393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Table 2 (Enrollments):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9617" y="5487263"/>
            <a:ext cx="30645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Primary Key: (roll no, subject)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Columns: roll no, subject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72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3_NF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09261" y="1333764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For a Table to be in 3 Normal Form. 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6798" y="1828800"/>
            <a:ext cx="7407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1 : It Should be in 2_NF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2 :And It Should Not Have The Transitive Dependency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6798" y="2667000"/>
            <a:ext cx="73152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</a:t>
            </a:r>
            <a:r>
              <a:rPr lang="en-US" dirty="0"/>
              <a:t>Transitive </a:t>
            </a:r>
            <a:r>
              <a:rPr lang="en-US" dirty="0" smtClean="0"/>
              <a:t>Dependency ? That means Indirect Dependency.</a:t>
            </a:r>
          </a:p>
          <a:p>
            <a:r>
              <a:rPr lang="en-US" dirty="0">
                <a:solidFill>
                  <a:srgbClr val="FFFF00"/>
                </a:solidFill>
              </a:rPr>
              <a:t>When a non-key column depends on another non-key column </a:t>
            </a:r>
            <a:r>
              <a:rPr lang="en-US" dirty="0" smtClean="0">
                <a:solidFill>
                  <a:srgbClr val="FFFF00"/>
                </a:solidFill>
              </a:rPr>
              <a:t>(And That non key column </a:t>
            </a:r>
            <a:r>
              <a:rPr lang="en-US" dirty="0">
                <a:solidFill>
                  <a:srgbClr val="FFFF00"/>
                </a:solidFill>
              </a:rPr>
              <a:t>depends on the primary key</a:t>
            </a:r>
            <a:r>
              <a:rPr lang="en-US" dirty="0"/>
              <a:t>), it is called </a:t>
            </a:r>
            <a:r>
              <a:rPr lang="en-US" b="1" dirty="0"/>
              <a:t>Transitive Dependency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09261" y="4038600"/>
            <a:ext cx="4581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StudentID, CourseID, </a:t>
            </a:r>
            <a:r>
              <a:rPr lang="en-US" dirty="0" smtClean="0"/>
              <a:t>And </a:t>
            </a:r>
            <a:r>
              <a:rPr lang="en-US" dirty="0"/>
              <a:t>CourseFee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198" y="4578481"/>
            <a:ext cx="7696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CourseID Depend on StudentID and CourseFee Depend On Course ID 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219198" y="5334000"/>
            <a:ext cx="7696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3NF states that a non-key column should not have such a dependency on another non-key column.</a:t>
            </a:r>
          </a:p>
        </p:txBody>
      </p:sp>
    </p:spTree>
    <p:extLst>
      <p:ext uri="{BB962C8B-B14F-4D97-AF65-F5344CB8AC3E}">
        <p14:creationId xmlns:p14="http://schemas.microsoft.com/office/powerpoint/2010/main" val="140580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3_NF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09261" y="1333764"/>
            <a:ext cx="647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Remove Transitive Dependency !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1209261" y="2034928"/>
            <a:ext cx="77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eliminate this transitive dependency, we split the table into two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798" y="2667000"/>
            <a:ext cx="731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1 (Students):</a:t>
            </a:r>
            <a:r>
              <a:rPr lang="en-US" dirty="0"/>
              <a:t> </a:t>
            </a:r>
            <a:r>
              <a:rPr lang="en-US" dirty="0" smtClean="0"/>
              <a:t>StudentID , </a:t>
            </a:r>
            <a:r>
              <a:rPr lang="en-US" dirty="0"/>
              <a:t>CourseID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111" y="3294749"/>
            <a:ext cx="731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2 (Courses):</a:t>
            </a:r>
            <a:r>
              <a:rPr lang="en-US" dirty="0"/>
              <a:t> CourseID, CourseFee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1099" y="3890665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Now, this table is in Third Normal Form (3NF) because the indirect (transitive) dependency has been eliminated</a:t>
            </a:r>
          </a:p>
        </p:txBody>
      </p:sp>
    </p:spTree>
    <p:extLst>
      <p:ext uri="{BB962C8B-B14F-4D97-AF65-F5344CB8AC3E}">
        <p14:creationId xmlns:p14="http://schemas.microsoft.com/office/powerpoint/2010/main" val="359075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3.5_NF OR BCNF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09261" y="1333764"/>
            <a:ext cx="647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Boyce-</a:t>
            </a:r>
            <a:r>
              <a:rPr lang="en-US" sz="2000" dirty="0" err="1" smtClean="0"/>
              <a:t>Codd</a:t>
            </a:r>
            <a:r>
              <a:rPr lang="en-US" sz="2000" dirty="0" smtClean="0"/>
              <a:t> Normal form 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1209261" y="2034928"/>
            <a:ext cx="777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Should Satisfy Two Conditions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6798" y="2667000"/>
            <a:ext cx="731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 Should be in 3</a:t>
            </a:r>
            <a:r>
              <a:rPr lang="en-US" baseline="30000" dirty="0" smtClean="0"/>
              <a:t>rd</a:t>
            </a:r>
            <a:r>
              <a:rPr lang="en-US" dirty="0" smtClean="0"/>
              <a:t> NF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0111" y="3294749"/>
            <a:ext cx="731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any dependency </a:t>
            </a:r>
            <a:r>
              <a:rPr lang="en-US" dirty="0" smtClean="0"/>
              <a:t>A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B</a:t>
            </a:r>
            <a:r>
              <a:rPr lang="en-US" dirty="0"/>
              <a:t> </a:t>
            </a:r>
            <a:r>
              <a:rPr lang="en-US" dirty="0" smtClean="0"/>
              <a:t>, A should </a:t>
            </a:r>
            <a:r>
              <a:rPr lang="en-US" dirty="0"/>
              <a:t>be a </a:t>
            </a:r>
            <a:r>
              <a:rPr lang="en-US" dirty="0" err="1"/>
              <a:t>superkey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81099" y="3890665"/>
            <a:ext cx="7086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which </a:t>
            </a:r>
            <a:r>
              <a:rPr lang="en-US" dirty="0" smtClean="0"/>
              <a:t>means: </a:t>
            </a:r>
          </a:p>
          <a:p>
            <a:r>
              <a:rPr lang="en-US" dirty="0" smtClean="0"/>
              <a:t>For, A</a:t>
            </a:r>
            <a:r>
              <a:rPr lang="en-US" dirty="0" smtClean="0">
                <a:sym typeface="Wingdings" pitchFamily="2" charset="2"/>
              </a:rPr>
              <a:t>B</a:t>
            </a:r>
          </a:p>
          <a:p>
            <a:r>
              <a:rPr lang="en-US" dirty="0" smtClean="0">
                <a:sym typeface="Wingdings" pitchFamily="2" charset="2"/>
              </a:rPr>
              <a:t>If A is a Non-prime and B is a Prime attribute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181099" y="4966395"/>
            <a:ext cx="7086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Not In 3</a:t>
            </a:r>
            <a:r>
              <a:rPr lang="en-US" baseline="30000" dirty="0" smtClean="0"/>
              <a:t>rd</a:t>
            </a:r>
            <a:r>
              <a:rPr lang="en-US" dirty="0" smtClean="0"/>
              <a:t> NF  We discussed that :</a:t>
            </a:r>
          </a:p>
          <a:p>
            <a:r>
              <a:rPr lang="en-US" dirty="0" smtClean="0"/>
              <a:t>When Non-Prime Attribute depend on Non Prime Attribute . </a:t>
            </a:r>
          </a:p>
          <a:p>
            <a:r>
              <a:rPr lang="en-US" dirty="0" smtClean="0"/>
              <a:t>Then it Is known as Transitive Dependency! </a:t>
            </a:r>
          </a:p>
        </p:txBody>
      </p:sp>
    </p:spTree>
    <p:extLst>
      <p:ext uri="{BB962C8B-B14F-4D97-AF65-F5344CB8AC3E}">
        <p14:creationId xmlns:p14="http://schemas.microsoft.com/office/powerpoint/2010/main" val="421384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3.5_NF OR BCNF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66800" y="7620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But What if . 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Non-Prime Attribute </a:t>
            </a:r>
            <a:r>
              <a:rPr lang="en-US" sz="2000" dirty="0" smtClean="0"/>
              <a:t>Depend on </a:t>
            </a:r>
            <a:r>
              <a:rPr lang="en-US" sz="2000" dirty="0" smtClean="0">
                <a:solidFill>
                  <a:srgbClr val="FF0000"/>
                </a:solidFill>
              </a:rPr>
              <a:t>Prime Attribute </a:t>
            </a:r>
            <a:r>
              <a:rPr lang="en-US" sz="2000" dirty="0" smtClean="0"/>
              <a:t>?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1083365" y="1600200"/>
            <a:ext cx="7772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BCNF Does Not Allow This ! </a:t>
            </a:r>
          </a:p>
          <a:p>
            <a:r>
              <a:rPr lang="en-US" dirty="0" smtClean="0"/>
              <a:t>Example !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795659"/>
              </p:ext>
            </p:extLst>
          </p:nvPr>
        </p:nvGraphicFramePr>
        <p:xfrm>
          <a:off x="599523" y="2438400"/>
          <a:ext cx="8229600" cy="22555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-id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subj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prof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p.java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c++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p.cpp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p.java22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103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c#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p.chash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104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p.java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62000" y="5029200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"However, in this table, if there is a dependency where the Professor (prof) determines the Subject (</a:t>
            </a:r>
            <a:r>
              <a:rPr lang="en-US" dirty="0" err="1"/>
              <a:t>subj</a:t>
            </a:r>
            <a:r>
              <a:rPr lang="en-US" dirty="0"/>
              <a:t>) (</a:t>
            </a:r>
            <a:r>
              <a:rPr lang="en-US" dirty="0" smtClean="0"/>
              <a:t>i.e.(prof)</a:t>
            </a:r>
            <a:r>
              <a:rPr lang="en-US" dirty="0" smtClean="0">
                <a:sym typeface="Wingdings" pitchFamily="2" charset="2"/>
              </a:rPr>
              <a:t>(</a:t>
            </a:r>
            <a:r>
              <a:rPr lang="en-US" dirty="0" err="1" smtClean="0">
                <a:sym typeface="Wingdings" pitchFamily="2" charset="2"/>
              </a:rPr>
              <a:t>S</a:t>
            </a:r>
            <a:r>
              <a:rPr lang="en-US" dirty="0" err="1" smtClean="0"/>
              <a:t>ubj</a:t>
            </a:r>
            <a:r>
              <a:rPr lang="en-US" dirty="0" smtClean="0"/>
              <a:t>), </a:t>
            </a:r>
            <a:r>
              <a:rPr lang="en-US" dirty="0"/>
              <a:t>then prof is not a </a:t>
            </a:r>
            <a:r>
              <a:rPr lang="en-US" dirty="0" err="1"/>
              <a:t>superkey</a:t>
            </a:r>
            <a:r>
              <a:rPr lang="en-US" dirty="0"/>
              <a:t> here, yet it is determining subj. Due to this indirect or improper dependency, BCNF rejects and does not allow such table structures</a:t>
            </a:r>
          </a:p>
        </p:txBody>
      </p:sp>
    </p:spTree>
    <p:extLst>
      <p:ext uri="{BB962C8B-B14F-4D97-AF65-F5344CB8AC3E}">
        <p14:creationId xmlns:p14="http://schemas.microsoft.com/office/powerpoint/2010/main" val="50312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3.5_NF OR BCNF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66800" y="941408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Solution ! Decompose The Table !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219200" y="175260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Table 1: </a:t>
            </a:r>
            <a:r>
              <a:rPr lang="en-US" sz="2000" dirty="0" smtClean="0"/>
              <a:t>Professor And  Subject’s Table. </a:t>
            </a:r>
          </a:p>
          <a:p>
            <a:r>
              <a:rPr lang="en-US" sz="2000" dirty="0" smtClean="0"/>
              <a:t>And Here professor will become a Primary key !</a:t>
            </a:r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838671"/>
              </p:ext>
            </p:extLst>
          </p:nvPr>
        </p:nvGraphicFramePr>
        <p:xfrm>
          <a:off x="632653" y="2971800"/>
          <a:ext cx="8229600" cy="1828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prof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subj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p.java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java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p.cpp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c++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p.java22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java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p.chash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c#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61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/>
              <a:t>3.5_NF OR BCNF</a:t>
            </a:r>
            <a:endParaRPr lang="en-US" sz="4800" b="1" dirty="0"/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66800" y="941408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Solution ! Decompose The Table !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219200" y="1752600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2. Table 2: Student </a:t>
            </a:r>
            <a:r>
              <a:rPr lang="en-US" sz="2000" dirty="0" smtClean="0"/>
              <a:t>And Professor’s Table </a:t>
            </a:r>
            <a:endParaRPr lang="en-US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472033"/>
              </p:ext>
            </p:extLst>
          </p:nvPr>
        </p:nvGraphicFramePr>
        <p:xfrm>
          <a:off x="457200" y="2826702"/>
          <a:ext cx="8229600" cy="22555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st-id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prof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p.java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101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p.cpp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102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p.java22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103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p.chash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104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p.java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67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4_NF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66800" y="941408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It Should be In BCNF 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219200" y="1752600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It should not have Multi-Valued Dependency 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239078" y="2514600"/>
            <a:ext cx="7620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is a Multi-valued Dependency?</a:t>
            </a:r>
            <a:r>
              <a:rPr lang="en-US" sz="2000" dirty="0"/>
              <a:t> When multiple values of other columns start appearing in the same table due to a single column (for example, StudentID) which are independent of each other, it is called a Multi-valued Dependency. This means that data starts repeating in the same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9078" y="4267200"/>
            <a:ext cx="5847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we have student data containing these columns: StudentID, Hobby, and Skill.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9078" y="5065931"/>
            <a:ext cx="706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student (101) can have hobbies such as Cricket and Football.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5638800"/>
            <a:ext cx="7066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same </a:t>
            </a:r>
            <a:r>
              <a:rPr lang="en-US" dirty="0">
                <a:solidFill>
                  <a:srgbClr val="FFFF00"/>
                </a:solidFill>
              </a:rPr>
              <a:t>student's skills can be Java and Python. Here, Hobby and Skill have no direct relation with each </a:t>
            </a:r>
            <a:r>
              <a:rPr lang="en-US" dirty="0" smtClean="0">
                <a:solidFill>
                  <a:srgbClr val="FFFF00"/>
                </a:solidFill>
              </a:rPr>
              <a:t>other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61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4_NF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66800" y="941408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Example !</a:t>
            </a:r>
            <a:endParaRPr lang="en-US" sz="2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470145"/>
              </p:ext>
            </p:extLst>
          </p:nvPr>
        </p:nvGraphicFramePr>
        <p:xfrm>
          <a:off x="460375" y="1905000"/>
          <a:ext cx="8229600" cy="1879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StudentID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Hobby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Skill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Cricket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Cricket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Python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Football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Football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Python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2000" y="4114800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there is no direct relationship between Hobby and Skill, but data gets repeated in the table like this:</a:t>
            </a:r>
          </a:p>
        </p:txBody>
      </p:sp>
    </p:spTree>
    <p:extLst>
      <p:ext uri="{BB962C8B-B14F-4D97-AF65-F5344CB8AC3E}">
        <p14:creationId xmlns:p14="http://schemas.microsoft.com/office/powerpoint/2010/main" val="215127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76903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4_NF </a:t>
            </a:r>
          </a:p>
        </p:txBody>
      </p:sp>
      <p:sp>
        <p:nvSpPr>
          <p:cNvPr id="2" name="AutoShape 2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Relational Database Management Systems(RDBMS)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66800" y="941408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Solution !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1341518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Table1:Student Hobby 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928174"/>
              </p:ext>
            </p:extLst>
          </p:nvPr>
        </p:nvGraphicFramePr>
        <p:xfrm>
          <a:off x="463688" y="2057400"/>
          <a:ext cx="8229600" cy="11277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StudentID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Hobby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Cricket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Football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775" y="34290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2 (Student-Skill):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742894"/>
              </p:ext>
            </p:extLst>
          </p:nvPr>
        </p:nvGraphicFramePr>
        <p:xfrm>
          <a:off x="440635" y="4114800"/>
          <a:ext cx="8229600" cy="11277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StudentID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Skill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Java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101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Python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13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953</TotalTime>
  <Words>3515</Words>
  <Application>Microsoft Office PowerPoint</Application>
  <PresentationFormat>On-screen Show (4:3)</PresentationFormat>
  <Paragraphs>589</Paragraphs>
  <Slides>54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Apex</vt:lpstr>
      <vt:lpstr>Introduction to DBMS:</vt:lpstr>
      <vt:lpstr>Centralized DBMS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A.J Compute's</dc:creator>
  <cp:lastModifiedBy>A.J Compute's</cp:lastModifiedBy>
  <cp:revision>254</cp:revision>
  <dcterms:created xsi:type="dcterms:W3CDTF">2026-10-11T16:35:27Z</dcterms:created>
  <dcterms:modified xsi:type="dcterms:W3CDTF">2026-10-15T10:21:49Z</dcterms:modified>
</cp:coreProperties>
</file>