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72" r:id="rId4"/>
    <p:sldId id="273" r:id="rId5"/>
    <p:sldId id="274" r:id="rId6"/>
    <p:sldId id="275" r:id="rId7"/>
    <p:sldId id="270" r:id="rId8"/>
    <p:sldId id="276" r:id="rId9"/>
    <p:sldId id="268" r:id="rId10"/>
    <p:sldId id="277" r:id="rId11"/>
    <p:sldId id="278" r:id="rId12"/>
    <p:sldId id="279" r:id="rId13"/>
    <p:sldId id="257" r:id="rId14"/>
    <p:sldId id="258" r:id="rId15"/>
    <p:sldId id="260" r:id="rId16"/>
    <p:sldId id="280" r:id="rId17"/>
    <p:sldId id="281" r:id="rId18"/>
    <p:sldId id="282" r:id="rId19"/>
    <p:sldId id="283" r:id="rId20"/>
    <p:sldId id="261" r:id="rId21"/>
    <p:sldId id="284" r:id="rId22"/>
    <p:sldId id="262" r:id="rId23"/>
    <p:sldId id="285" r:id="rId24"/>
    <p:sldId id="263" r:id="rId25"/>
    <p:sldId id="286" r:id="rId26"/>
    <p:sldId id="264" r:id="rId27"/>
    <p:sldId id="287" r:id="rId28"/>
    <p:sldId id="265" r:id="rId29"/>
    <p:sldId id="288" r:id="rId30"/>
    <p:sldId id="266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8" d="100"/>
          <a:sy n="108" d="100"/>
        </p:scale>
        <p:origin x="-56" y="16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9A66-9F39-4CEC-B7C4-74C5A638BD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C149-4008-4D74-AE00-E2121788B2C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9A66-9F39-4CEC-B7C4-74C5A638BD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C149-4008-4D74-AE00-E2121788B2C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9A66-9F39-4CEC-B7C4-74C5A638BD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C149-4008-4D74-AE00-E2121788B2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9A66-9F39-4CEC-B7C4-74C5A638BD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C149-4008-4D74-AE00-E2121788B2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9A66-9F39-4CEC-B7C4-74C5A638BD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C149-4008-4D74-AE00-E2121788B2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9A66-9F39-4CEC-B7C4-74C5A638BD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C149-4008-4D74-AE00-E2121788B2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9A66-9F39-4CEC-B7C4-74C5A638BD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C149-4008-4D74-AE00-E2121788B2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9A66-9F39-4CEC-B7C4-74C5A638BD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C149-4008-4D74-AE00-E2121788B2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9A66-9F39-4CEC-B7C4-74C5A638BD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C149-4008-4D74-AE00-E2121788B2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9A66-9F39-4CEC-B7C4-74C5A638BD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C149-4008-4D74-AE00-E2121788B2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9A66-9F39-4CEC-B7C4-74C5A638BD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3C149-4008-4D74-AE00-E2121788B2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5D059A66-9F39-4CEC-B7C4-74C5A638BD1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CF53C149-4008-4D74-AE00-E2121788B2C6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6400" y="609600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Introduction to PL/SQL</a:t>
            </a:r>
            <a:endParaRPr lang="en-US" sz="3200" b="1" i="1" dirty="0"/>
          </a:p>
        </p:txBody>
      </p:sp>
      <p:sp>
        <p:nvSpPr>
          <p:cNvPr id="8" name="Rectangle 7"/>
          <p:cNvSpPr/>
          <p:nvPr/>
        </p:nvSpPr>
        <p:spPr>
          <a:xfrm>
            <a:off x="967409" y="1447800"/>
            <a:ext cx="762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PL/SQL stands for Procedural Language extension to Structured Query Language. It is a proprietary extension created by Oracle Corporation for the Oracle Database.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66800" y="3657600"/>
            <a:ext cx="7620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While standard SQL is a non-procedural language—meaning you tell the database </a:t>
            </a:r>
            <a:r>
              <a:rPr lang="en-US" sz="2400" b="1" i="1" dirty="0" smtClean="0">
                <a:solidFill>
                  <a:srgbClr val="FF0000"/>
                </a:solidFill>
              </a:rPr>
              <a:t>what</a:t>
            </a:r>
            <a:r>
              <a:rPr lang="en-US" sz="2400" b="1" dirty="0" smtClean="0">
                <a:solidFill>
                  <a:srgbClr val="FF0000"/>
                </a:solidFill>
              </a:rPr>
              <a:t> data you want, but not </a:t>
            </a:r>
            <a:r>
              <a:rPr lang="en-US" sz="2400" b="1" i="1" dirty="0" smtClean="0">
                <a:solidFill>
                  <a:srgbClr val="FF0000"/>
                </a:solidFill>
              </a:rPr>
              <a:t>how</a:t>
            </a:r>
            <a:r>
              <a:rPr lang="en-US" sz="2400" b="1" dirty="0" smtClean="0">
                <a:solidFill>
                  <a:srgbClr val="FF0000"/>
                </a:solidFill>
              </a:rPr>
              <a:t> to fetch it </a:t>
            </a:r>
            <a:r>
              <a:rPr lang="en-US" sz="2400" b="1" dirty="0" smtClean="0">
                <a:solidFill>
                  <a:srgbClr val="FFFF00"/>
                </a:solidFill>
              </a:rPr>
              <a:t>step-by-step—PL/SQL combines SQL with the procedural features of programming languages (like loops, conditions, variables, and error handling</a:t>
            </a:r>
            <a:endParaRPr lang="en-US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87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6400" y="609600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Why Do We Need PL/SQL?</a:t>
            </a:r>
            <a:endParaRPr lang="en-US" sz="3200" b="1" i="1" dirty="0"/>
          </a:p>
        </p:txBody>
      </p:sp>
      <p:sp>
        <p:nvSpPr>
          <p:cNvPr id="8" name="Rectangle 7"/>
          <p:cNvSpPr/>
          <p:nvPr/>
        </p:nvSpPr>
        <p:spPr>
          <a:xfrm>
            <a:off x="967409" y="1447800"/>
            <a:ext cx="762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1: </a:t>
            </a:r>
            <a:r>
              <a:rPr lang="en-US" sz="2400" b="1" dirty="0" smtClean="0"/>
              <a:t>Procedural Capabilities:</a:t>
            </a:r>
            <a:r>
              <a:rPr lang="en-US" sz="2400" dirty="0" smtClean="0"/>
              <a:t> Standard SQL cannot handle decision-making (IF-ELSE) or iteration (WHILE, FOR loops) on its own. PL/SQL brings full programming logic into the database.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96618" y="3810000"/>
            <a:ext cx="7620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b="1" dirty="0" smtClean="0">
                <a:solidFill>
                  <a:srgbClr val="FF0000"/>
                </a:solidFill>
              </a:rPr>
              <a:t>: </a:t>
            </a:r>
            <a:r>
              <a:rPr lang="en-US" sz="2400" b="1" dirty="0" smtClean="0"/>
              <a:t>Performance (Reduced Network Traffic):</a:t>
            </a:r>
            <a:r>
              <a:rPr lang="en-US" sz="2400" dirty="0" smtClean="0"/>
              <a:t> Instead of sending multiple individual SQL queries from an application to the database one by one, you can group them </a:t>
            </a:r>
            <a:r>
              <a:rPr lang="en-US" sz="2400" dirty="0" smtClean="0">
                <a:solidFill>
                  <a:srgbClr val="FF0000"/>
                </a:solidFill>
              </a:rPr>
              <a:t>into a single PL/SQL block </a:t>
            </a:r>
            <a:r>
              <a:rPr lang="en-US" sz="2400" dirty="0" smtClean="0"/>
              <a:t>and send it to the database server in </a:t>
            </a:r>
            <a:r>
              <a:rPr lang="en-US" sz="2400" b="1" dirty="0" smtClean="0"/>
              <a:t>one trip</a:t>
            </a:r>
            <a:r>
              <a:rPr lang="en-US" sz="2400" dirty="0" smtClean="0"/>
              <a:t>, reducing network latency.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61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609600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 PL/SQL </a:t>
            </a:r>
            <a:r>
              <a:rPr lang="en-US" sz="3200" dirty="0"/>
              <a:t>is strictly exclusive to Oracle Database.</a:t>
            </a:r>
            <a:endParaRPr lang="en-US" sz="3200" b="1" i="1" dirty="0"/>
          </a:p>
        </p:txBody>
      </p:sp>
      <p:sp>
        <p:nvSpPr>
          <p:cNvPr id="8" name="Rectangle 7"/>
          <p:cNvSpPr/>
          <p:nvPr/>
        </p:nvSpPr>
        <p:spPr>
          <a:xfrm>
            <a:off x="967409" y="1447800"/>
            <a:ext cx="7620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 </a:t>
            </a:r>
            <a:r>
              <a:rPr lang="en-US" sz="2800" b="1" dirty="0"/>
              <a:t>PL/SQL is strictly exclusive to Oracle Database</a:t>
            </a:r>
            <a:r>
              <a:rPr lang="en-US" sz="2400" dirty="0"/>
              <a:t>. You cannot use actual PL/SQL in MySQL or PostgreSQL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43000" y="2667000"/>
            <a:ext cx="731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PL/SQL (Procedural Language/SQL) was specifically designed and developed by </a:t>
            </a:r>
            <a:r>
              <a:rPr lang="en-US" sz="2400" b="1" dirty="0" smtClean="0">
                <a:solidFill>
                  <a:srgbClr val="FF0000"/>
                </a:solidFill>
              </a:rPr>
              <a:t>Oracle Corporation for its database system</a:t>
            </a:r>
            <a:r>
              <a:rPr lang="en-US" sz="2400" b="1" dirty="0" smtClean="0"/>
              <a:t>, Oracle Database.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1176130" y="4191000"/>
            <a:ext cx="731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FF00"/>
                </a:solidFill>
              </a:rPr>
              <a:t>No other database system</a:t>
            </a:r>
            <a:r>
              <a:rPr lang="en-US" sz="2400" b="1" dirty="0" smtClean="0"/>
              <a:t>, such as MySQL or Microsoft SQL Server, can execute actual PL/SQL code using Oracle's native PL/SQL engine.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4268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609600"/>
            <a:ext cx="746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1: Oracle Databases Uses </a:t>
            </a:r>
            <a:r>
              <a:rPr lang="en-US" sz="3200" b="1" dirty="0"/>
              <a:t>PL/SQL</a:t>
            </a:r>
            <a:endParaRPr lang="en-US" sz="3200" b="1" i="1" dirty="0"/>
          </a:p>
        </p:txBody>
      </p:sp>
      <p:sp>
        <p:nvSpPr>
          <p:cNvPr id="8" name="Rectangle 7"/>
          <p:cNvSpPr/>
          <p:nvPr/>
        </p:nvSpPr>
        <p:spPr>
          <a:xfrm>
            <a:off x="967409" y="1447800"/>
            <a:ext cx="762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Name: Procedural Language/Structured Query Language (Oracle's proprietary language).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800" y="2438400"/>
            <a:ext cx="6781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Syntax Style:</a:t>
            </a:r>
            <a:r>
              <a:rPr lang="en-US" sz="2800" dirty="0" smtClean="0"/>
              <a:t> Uses </a:t>
            </a:r>
            <a:r>
              <a:rPr lang="en-US" sz="2800" dirty="0" smtClean="0">
                <a:solidFill>
                  <a:srgbClr val="FF0000"/>
                </a:solidFill>
              </a:rPr>
              <a:t>DECLARE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FF0000"/>
                </a:solidFill>
              </a:rPr>
              <a:t>BEGIN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FF0000"/>
                </a:solidFill>
              </a:rPr>
              <a:t>EXCEPTION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FF0000"/>
                </a:solidFill>
              </a:rPr>
              <a:t>END</a:t>
            </a:r>
            <a:r>
              <a:rPr lang="en-US" sz="2800" dirty="0" smtClean="0"/>
              <a:t>;, and ends blocks with a slash (/).</a:t>
            </a:r>
            <a:r>
              <a:rPr lang="en-US" sz="2800" dirty="0"/>
              <a:t> Anonymous PL/SQL Block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4229100"/>
            <a:ext cx="5657850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894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609600"/>
            <a:ext cx="7467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2. MySQL  -  Uses </a:t>
            </a:r>
            <a:r>
              <a:rPr lang="en-US" sz="3200" b="1" dirty="0"/>
              <a:t>MySQL Stored Routines / Procedural SQL</a:t>
            </a:r>
            <a:endParaRPr lang="en-US" sz="3200" b="1" i="1" dirty="0"/>
          </a:p>
        </p:txBody>
      </p:sp>
      <p:sp>
        <p:nvSpPr>
          <p:cNvPr id="8" name="Rectangle 7"/>
          <p:cNvSpPr/>
          <p:nvPr/>
        </p:nvSpPr>
        <p:spPr>
          <a:xfrm>
            <a:off x="967409" y="1689554"/>
            <a:ext cx="762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MySQL uses its own procedural extension called </a:t>
            </a:r>
            <a:r>
              <a:rPr lang="en-US" sz="2400" b="1" dirty="0" smtClean="0"/>
              <a:t>MySQL Stored Routines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43000" y="2690336"/>
            <a:ext cx="7696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Stored Routines" is the umbrella term in MySQL. It includes both Stored Procedures and Stored Functions. They share similar logic with Oracle's PL/SQL, but the engine and syntax belong purely to MySQL</a:t>
            </a:r>
            <a:endParaRPr 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85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Syntax Style</a:t>
            </a:r>
            <a:r>
              <a:rPr lang="en-US" b="1" dirty="0" smtClean="0"/>
              <a:t>: Uses DELIMITER, BEGIN, END, and requires semicolons inside the block. It does not use DECLARE the exact same way Oracle does, and printing is done via SELECT rather than a built-in package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3347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304800"/>
            <a:ext cx="8153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  <a:r>
              <a:rPr lang="en-US" sz="3200" dirty="0" smtClean="0"/>
              <a:t>. PostgreSQL (Managed via pgAdmin) Uses </a:t>
            </a:r>
            <a:r>
              <a:rPr lang="en-US" sz="3200" b="1" dirty="0"/>
              <a:t>PL/</a:t>
            </a:r>
            <a:r>
              <a:rPr lang="en-US" sz="3200" b="1" dirty="0" err="1"/>
              <a:t>pgSQL</a:t>
            </a:r>
            <a:endParaRPr lang="en-US" sz="3200" b="1" i="1" dirty="0"/>
          </a:p>
        </p:txBody>
      </p:sp>
      <p:sp>
        <p:nvSpPr>
          <p:cNvPr id="8" name="Rectangle 7"/>
          <p:cNvSpPr/>
          <p:nvPr/>
        </p:nvSpPr>
        <p:spPr>
          <a:xfrm>
            <a:off x="967409" y="1689554"/>
            <a:ext cx="762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Name:</a:t>
            </a:r>
            <a:r>
              <a:rPr lang="en-US" sz="2400" dirty="0" smtClean="0"/>
              <a:t> Procedural Language/PostgreSQL Structured Query Language.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43000" y="2690336"/>
            <a:ext cx="7696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Syntax Style:</a:t>
            </a:r>
            <a:r>
              <a:rPr lang="en-US" sz="2400" dirty="0" smtClean="0"/>
              <a:t> Very similar conceptually to Oracle's PL/SQL (which inspired it), but uses </a:t>
            </a:r>
            <a:r>
              <a:rPr lang="en-US" sz="2400" dirty="0" smtClean="0">
                <a:solidFill>
                  <a:srgbClr val="FF0000"/>
                </a:solidFill>
              </a:rPr>
              <a:t>dollar-quoting ($$) </a:t>
            </a:r>
            <a:r>
              <a:rPr lang="en-US" sz="2400" dirty="0" smtClean="0"/>
              <a:t>instead of </a:t>
            </a:r>
            <a:r>
              <a:rPr lang="en-US" sz="2400" dirty="0" smtClean="0">
                <a:solidFill>
                  <a:srgbClr val="FF0000"/>
                </a:solidFill>
              </a:rPr>
              <a:t>DELIMITER</a:t>
            </a:r>
            <a:r>
              <a:rPr lang="en-US" sz="2400" dirty="0" smtClean="0"/>
              <a:t>, and</a:t>
            </a:r>
          </a:p>
          <a:p>
            <a:endParaRPr lang="en-US" sz="2400" dirty="0"/>
          </a:p>
          <a:p>
            <a:r>
              <a:rPr lang="en-US" sz="2400" dirty="0" smtClean="0"/>
              <a:t> requires you to specify </a:t>
            </a:r>
            <a:r>
              <a:rPr lang="en-US" sz="2400" dirty="0" smtClean="0">
                <a:solidFill>
                  <a:srgbClr val="FF0000"/>
                </a:solidFill>
              </a:rPr>
              <a:t>LANGUAGE </a:t>
            </a:r>
            <a:r>
              <a:rPr lang="en-US" sz="2400" dirty="0" err="1" smtClean="0">
                <a:solidFill>
                  <a:srgbClr val="FF0000"/>
                </a:solidFill>
              </a:rPr>
              <a:t>plpgsql</a:t>
            </a:r>
            <a:r>
              <a:rPr lang="en-US" sz="2400" dirty="0" smtClean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495800"/>
            <a:ext cx="3905250" cy="183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631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600" y="457200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PL/SQL Block Structure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66800" y="12954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/>
              <a:t>Basic Anatomy of a PL/SQL Block</a:t>
            </a:r>
            <a:endParaRPr lang="en-US" sz="2400" b="1" i="1" dirty="0"/>
          </a:p>
        </p:txBody>
      </p:sp>
      <p:sp>
        <p:nvSpPr>
          <p:cNvPr id="9" name="TextBox 8"/>
          <p:cNvSpPr txBox="1"/>
          <p:nvPr/>
        </p:nvSpPr>
        <p:spPr>
          <a:xfrm>
            <a:off x="1447800" y="1931504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</a:t>
            </a:r>
            <a:r>
              <a:rPr lang="en-US" sz="2400" dirty="0" smtClean="0">
                <a:solidFill>
                  <a:srgbClr val="FF0000"/>
                </a:solidFill>
              </a:rPr>
              <a:t>DECLARE</a:t>
            </a:r>
            <a:r>
              <a:rPr lang="en-US" sz="2400" dirty="0" smtClean="0"/>
              <a:t> section (Variables &amp; Constants)</a:t>
            </a:r>
            <a:endParaRPr lang="en-US" sz="2400" b="1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1388165" y="2514599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</a:t>
            </a:r>
            <a:r>
              <a:rPr lang="en-US" sz="2400" dirty="0" smtClean="0">
                <a:solidFill>
                  <a:srgbClr val="FF0000"/>
                </a:solidFill>
              </a:rPr>
              <a:t> BEGIN </a:t>
            </a:r>
            <a:r>
              <a:rPr lang="en-US" sz="2400" dirty="0" smtClean="0"/>
              <a:t>section (Executable statements)</a:t>
            </a:r>
            <a:endParaRPr lang="en-US" sz="2400" b="1" i="1" dirty="0"/>
          </a:p>
        </p:txBody>
      </p:sp>
      <p:sp>
        <p:nvSpPr>
          <p:cNvPr id="11" name="TextBox 10"/>
          <p:cNvSpPr txBox="1"/>
          <p:nvPr/>
        </p:nvSpPr>
        <p:spPr>
          <a:xfrm>
            <a:off x="1388165" y="3276598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</a:t>
            </a:r>
            <a:r>
              <a:rPr lang="en-US" sz="2400" dirty="0" smtClean="0">
                <a:solidFill>
                  <a:srgbClr val="FF0000"/>
                </a:solidFill>
              </a:rPr>
              <a:t>EXCEPTION </a:t>
            </a:r>
            <a:r>
              <a:rPr lang="en-US" sz="2400" dirty="0" smtClean="0"/>
              <a:t>section (Error handling)</a:t>
            </a:r>
            <a:endParaRPr lang="en-US" sz="2400" b="1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1355035" y="4038597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</a:t>
            </a:r>
            <a:r>
              <a:rPr lang="en-US" sz="2400" dirty="0" smtClean="0">
                <a:solidFill>
                  <a:srgbClr val="FF0000"/>
                </a:solidFill>
              </a:rPr>
              <a:t>END</a:t>
            </a:r>
            <a:r>
              <a:rPr lang="en-US" sz="2400" dirty="0" smtClean="0"/>
              <a:t>; terminator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1800607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600" y="457200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Variables and Data Types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66800" y="1295400"/>
            <a:ext cx="655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Scalar Data Types </a:t>
            </a:r>
            <a:r>
              <a:rPr lang="en-US" sz="2400" dirty="0" smtClean="0">
                <a:solidFill>
                  <a:srgbClr val="FF0000"/>
                </a:solidFill>
              </a:rPr>
              <a:t>(VARCHAR2, NUMBER, DATE, BOOLEAN)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2428461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Anchor Declarations </a:t>
            </a:r>
            <a:r>
              <a:rPr lang="en-US" sz="2400" dirty="0" smtClean="0">
                <a:solidFill>
                  <a:srgbClr val="FF0000"/>
                </a:solidFill>
              </a:rPr>
              <a:t>(%TYPE and %ROWTYPE)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19200" y="3581400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Variable Initialization and Assignment </a:t>
            </a:r>
            <a:r>
              <a:rPr lang="en-US" sz="2400" dirty="0" smtClean="0">
                <a:solidFill>
                  <a:srgbClr val="FF0000"/>
                </a:solidFill>
              </a:rPr>
              <a:t>(:=)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224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6400" y="609600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Introduction to Stored Procedures</a:t>
            </a:r>
            <a:endParaRPr lang="en-US" sz="3200" b="1" i="1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1194375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Overview</a:t>
            </a:r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990600" y="1981200"/>
            <a:ext cx="7620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A Stored Procedure is a core relational database concept rather than a feature tied exclusively to </a:t>
            </a:r>
            <a:r>
              <a:rPr lang="en-US" sz="2000" b="1" dirty="0" smtClean="0">
                <a:solidFill>
                  <a:srgbClr val="FF0000"/>
                </a:solidFill>
              </a:rPr>
              <a:t>Oracle's PL/SQL. </a:t>
            </a:r>
            <a:r>
              <a:rPr lang="en-US" sz="2000" b="1" dirty="0" smtClean="0"/>
              <a:t>It refers to a pre-compiled, reusable group of SQL statements and procedural logic—such as conditional statements, loops, and variables—stored directly inside the database server. </a:t>
            </a:r>
            <a:r>
              <a:rPr lang="en-US" sz="2000" b="1" dirty="0" smtClean="0">
                <a:solidFill>
                  <a:srgbClr val="FF0000"/>
                </a:solidFill>
              </a:rPr>
              <a:t>While Oracle uses the term PL/SQL to implement stored procedures, </a:t>
            </a:r>
            <a:r>
              <a:rPr lang="en-US" sz="2000" b="1" dirty="0"/>
              <a:t>vir</a:t>
            </a:r>
            <a:r>
              <a:rPr lang="en-US" sz="2000" b="1" dirty="0" smtClean="0"/>
              <a:t>tually all major Relational Database Management System (RDBMS) platforms support this concept using their own procedural extensions, </a:t>
            </a:r>
            <a:r>
              <a:rPr lang="en-US" sz="2000" b="1" dirty="0" smtClean="0">
                <a:solidFill>
                  <a:srgbClr val="FF0000"/>
                </a:solidFill>
              </a:rPr>
              <a:t>including PostgreSQL (PL/</a:t>
            </a:r>
            <a:r>
              <a:rPr lang="en-US" sz="2000" b="1" dirty="0" err="1" smtClean="0">
                <a:solidFill>
                  <a:srgbClr val="FF0000"/>
                </a:solidFill>
              </a:rPr>
              <a:t>pgSQL</a:t>
            </a:r>
            <a:r>
              <a:rPr lang="en-US" sz="2000" b="1" dirty="0" smtClean="0">
                <a:solidFill>
                  <a:srgbClr val="FF0000"/>
                </a:solidFill>
              </a:rPr>
              <a:t>), Microsoft SQL Server (T-SQL), and MySQL.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822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6400" y="609600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Introduction to Stored Procedures</a:t>
            </a:r>
            <a:endParaRPr lang="en-US" sz="3200" b="1" i="1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1194375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Overview</a:t>
            </a:r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990600" y="1981200"/>
            <a:ext cx="7620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A Stored Procedures </a:t>
            </a:r>
            <a:r>
              <a:rPr lang="en-US" sz="2000" b="1" dirty="0" smtClean="0"/>
              <a:t>is The Set of statement inside it we can write multiple Queries.  In which through we can apply DML and DDL Operations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3000" y="3124200"/>
            <a:ext cx="7620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It Provides Code </a:t>
            </a:r>
            <a:r>
              <a:rPr lang="en-US" sz="2000" b="1" dirty="0" smtClean="0"/>
              <a:t>Re-</a:t>
            </a:r>
            <a:r>
              <a:rPr lang="en-US" sz="2000" b="1" dirty="0" err="1" smtClean="0"/>
              <a:t>usibility</a:t>
            </a:r>
            <a:r>
              <a:rPr lang="en-US" sz="2000" b="1" dirty="0" smtClean="0"/>
              <a:t> and Performance Improvement  And Security Purposes.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19200" y="4365486"/>
            <a:ext cx="7620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Procedures are Used For </a:t>
            </a:r>
            <a:r>
              <a:rPr lang="en-US" sz="2000" b="1" dirty="0" smtClean="0">
                <a:solidFill>
                  <a:srgbClr val="FF0000"/>
                </a:solidFill>
              </a:rPr>
              <a:t>Actions </a:t>
            </a:r>
            <a:r>
              <a:rPr lang="en-US" sz="2000" b="1" dirty="0" smtClean="0"/>
              <a:t>for Performing large Actions.</a:t>
            </a:r>
          </a:p>
          <a:p>
            <a:r>
              <a:rPr lang="en-US" sz="2000" b="1" dirty="0" smtClean="0"/>
              <a:t>Like changes in database in Multiple Tables.</a:t>
            </a:r>
            <a:endParaRPr lang="en-US" sz="2000" b="1" dirty="0"/>
          </a:p>
        </p:txBody>
      </p:sp>
      <p:sp>
        <p:nvSpPr>
          <p:cNvPr id="9" name="Rectangle 8"/>
          <p:cNvSpPr/>
          <p:nvPr/>
        </p:nvSpPr>
        <p:spPr>
          <a:xfrm>
            <a:off x="1239078" y="5410200"/>
            <a:ext cx="7620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While Functions is used for the Calculations and It return a </a:t>
            </a:r>
            <a:r>
              <a:rPr lang="en-US" sz="2000" b="1" dirty="0" err="1" smtClean="0"/>
              <a:t>value.While</a:t>
            </a:r>
            <a:r>
              <a:rPr lang="en-US" sz="2000" b="1" dirty="0" smtClean="0"/>
              <a:t> procedure does not return any Value.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82808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6400" y="609600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 smtClean="0"/>
              <a:t>Basic Syntax ! </a:t>
            </a:r>
            <a:endParaRPr lang="en-US" sz="3200" b="1" i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47800"/>
            <a:ext cx="6858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681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6400" y="609600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 smtClean="0"/>
              <a:t>Basic Syntax ! </a:t>
            </a:r>
            <a:endParaRPr lang="en-US" sz="3200" b="1" i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652" y="1600200"/>
            <a:ext cx="6311348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1882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7000" y="609600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 Stored Procedures </a:t>
            </a:r>
            <a:endParaRPr lang="en-US" sz="28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Understanding Stored Procedure Parameters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1985665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Stored procedures can accept parameters to make them dynamic. There are typically three types of parameters.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83974" y="3352800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IN</a:t>
            </a:r>
            <a:r>
              <a:rPr lang="en-US" sz="2400" b="1" dirty="0" smtClean="0"/>
              <a:t>:</a:t>
            </a:r>
            <a:r>
              <a:rPr lang="en-US" sz="2400" dirty="0" smtClean="0"/>
              <a:t> Passes a value </a:t>
            </a:r>
            <a:r>
              <a:rPr lang="en-US" sz="2400" i="1" dirty="0" smtClean="0"/>
              <a:t>into</a:t>
            </a:r>
            <a:r>
              <a:rPr lang="en-US" sz="2400" dirty="0" smtClean="0"/>
              <a:t> the procedure (default).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983974" y="3996682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OUT</a:t>
            </a:r>
            <a:r>
              <a:rPr lang="en-US" sz="2400" b="1" dirty="0" smtClean="0"/>
              <a:t>:</a:t>
            </a:r>
            <a:r>
              <a:rPr lang="en-US" sz="2400" dirty="0" smtClean="0"/>
              <a:t> Passes a value </a:t>
            </a:r>
            <a:r>
              <a:rPr lang="en-US" sz="2400" i="1" dirty="0" smtClean="0"/>
              <a:t>out</a:t>
            </a:r>
            <a:r>
              <a:rPr lang="en-US" sz="2400" dirty="0" smtClean="0"/>
              <a:t> of the procedure back to the caller.</a:t>
            </a:r>
            <a:endParaRPr lang="en-US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997226" y="4724400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INOUT</a:t>
            </a:r>
            <a:r>
              <a:rPr lang="en-US" sz="2400" b="1" dirty="0" smtClean="0"/>
              <a:t>:</a:t>
            </a:r>
            <a:r>
              <a:rPr lang="en-US" sz="2400" dirty="0" smtClean="0"/>
              <a:t> Does both—takes an input value and modifies it to return a value.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34983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7000" y="609600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 Stored Procedures </a:t>
            </a:r>
            <a:endParaRPr lang="en-US" sz="28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Example 1: A Simple Stored Procedure (No Parameters)</a:t>
            </a:r>
            <a:endParaRPr lang="en-US" sz="2800" b="1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09800"/>
            <a:ext cx="6858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5228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7000" y="609600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 Stored Procedures </a:t>
            </a:r>
            <a:endParaRPr lang="en-US" sz="28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Example2: A Stored Procedure with </a:t>
            </a:r>
            <a:r>
              <a:rPr lang="en-US" sz="2800" b="1" dirty="0" smtClean="0">
                <a:solidFill>
                  <a:srgbClr val="FF0000"/>
                </a:solidFill>
              </a:rPr>
              <a:t>IN</a:t>
            </a:r>
            <a:r>
              <a:rPr lang="en-US" sz="2800" b="1" dirty="0" smtClean="0"/>
              <a:t> parameters.</a:t>
            </a:r>
            <a:endParaRPr lang="en-US" sz="28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44724"/>
            <a:ext cx="6477000" cy="354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4562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7000" y="609600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 Stored Procedures </a:t>
            </a:r>
            <a:endParaRPr lang="en-US" sz="28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Example2: A Stored Procedure with </a:t>
            </a:r>
            <a:r>
              <a:rPr lang="en-US" sz="2800" b="1" dirty="0" smtClean="0">
                <a:solidFill>
                  <a:srgbClr val="FF0000"/>
                </a:solidFill>
              </a:rPr>
              <a:t>OUT</a:t>
            </a:r>
            <a:r>
              <a:rPr lang="en-US" sz="2800" b="1" dirty="0" smtClean="0"/>
              <a:t> parameters.</a:t>
            </a:r>
            <a:endParaRPr lang="en-US" sz="28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27950"/>
            <a:ext cx="3733800" cy="363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4485" y="2266122"/>
            <a:ext cx="455295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4538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7000" y="609600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 Stored Procedures </a:t>
            </a:r>
            <a:endParaRPr lang="en-US" sz="28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Example3: A Stored Procedure with</a:t>
            </a:r>
            <a:r>
              <a:rPr lang="en-US" sz="2800" b="1" dirty="0">
                <a:solidFill>
                  <a:srgbClr val="FF0000"/>
                </a:solidFill>
              </a:rPr>
              <a:t> INOUT </a:t>
            </a:r>
            <a:r>
              <a:rPr lang="en-US" sz="2800" b="1" dirty="0" smtClean="0"/>
              <a:t>parameters.</a:t>
            </a:r>
            <a:endParaRPr lang="en-US" sz="28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24636"/>
            <a:ext cx="4229100" cy="302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362200"/>
            <a:ext cx="29337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3247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7000" y="609600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 Stored Procedures </a:t>
            </a:r>
            <a:endParaRPr lang="en-US" sz="28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Example3: A Stored Procedure with</a:t>
            </a:r>
            <a:r>
              <a:rPr lang="en-US" sz="2800" b="1" dirty="0">
                <a:solidFill>
                  <a:srgbClr val="FF0000"/>
                </a:solidFill>
              </a:rPr>
              <a:t> INOUT </a:t>
            </a:r>
            <a:r>
              <a:rPr lang="en-US" sz="2800" b="1" dirty="0" smtClean="0"/>
              <a:t>parameters.</a:t>
            </a:r>
            <a:endParaRPr lang="en-US" sz="28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2183296"/>
            <a:ext cx="3987800" cy="2160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31" y="4953000"/>
            <a:ext cx="6875117" cy="130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5860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7000" y="609600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 Stored Procedures </a:t>
            </a:r>
            <a:endParaRPr lang="en-US" sz="28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Example3: A Stored Procedure with</a:t>
            </a:r>
            <a:r>
              <a:rPr lang="en-US" sz="2800" b="1" dirty="0">
                <a:solidFill>
                  <a:srgbClr val="FF0000"/>
                </a:solidFill>
              </a:rPr>
              <a:t> INOUT </a:t>
            </a:r>
            <a:r>
              <a:rPr lang="en-US" sz="2800" b="1" dirty="0" smtClean="0"/>
              <a:t>parameters.</a:t>
            </a:r>
            <a:endParaRPr lang="en-US" sz="2800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09800"/>
            <a:ext cx="49530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9234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7000" y="609600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Functions In PLSQL</a:t>
            </a:r>
            <a:endParaRPr lang="en-US" sz="28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8153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Function</a:t>
            </a:r>
            <a:r>
              <a:rPr lang="en-US" sz="2800" b="1" dirty="0" smtClean="0"/>
              <a:t>: is a Block of code That Perform a Given Task and return value.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05070" y="2478107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Types of Functions:</a:t>
            </a:r>
            <a:endParaRPr 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924340" y="3584614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1: Scalar Function :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43610" y="4691121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2: Table Function :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78978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24948" y="3810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1: Scalar Function :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24948" y="990600"/>
            <a:ext cx="8153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Oracle PL/SQL, a </a:t>
            </a:r>
            <a:r>
              <a:rPr lang="en-US" sz="2400" b="1" dirty="0"/>
              <a:t>scalar function</a:t>
            </a:r>
            <a:r>
              <a:rPr lang="en-US" sz="2400" dirty="0"/>
              <a:t> (commonly referred to as a stored function) is a database subprogram that performs a specific set of calculations or logic and returns a </a:t>
            </a:r>
            <a:r>
              <a:rPr lang="en-US" sz="2400" b="1" dirty="0"/>
              <a:t>single, atomic value</a:t>
            </a:r>
            <a:r>
              <a:rPr lang="en-US" sz="2400" dirty="0"/>
              <a:t> (such as a number, string, date, or </a:t>
            </a:r>
            <a:r>
              <a:rPr lang="en-US" sz="2400" dirty="0" err="1"/>
              <a:t>boolean</a:t>
            </a:r>
            <a:r>
              <a:rPr lang="en-US" sz="2400" dirty="0"/>
              <a:t>) to the calling environment.</a:t>
            </a:r>
            <a:endParaRPr lang="en-US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917055" y="2875002"/>
            <a:ext cx="3493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Key Characteristics of Scalar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46872" y="3429000"/>
            <a:ext cx="67393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Single Value Return:</a:t>
            </a:r>
            <a:r>
              <a:rPr lang="en-US" dirty="0"/>
              <a:t> Unlike table functions that return an entire result set (rows and columns), a scalar function always returns exactly one value per execution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56812" y="4495800"/>
            <a:ext cx="655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Reusability:</a:t>
            </a:r>
            <a:r>
              <a:rPr lang="en-US" dirty="0"/>
              <a:t> Once created and stored in the database, it can be called repeatedly across multiple applications, queries, and blocks.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6812" y="5257800"/>
            <a:ext cx="6553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Parameter Support:</a:t>
            </a:r>
            <a:r>
              <a:rPr lang="en-US" dirty="0"/>
              <a:t> They can accept zero or more input parameters (IN), and optionally output parameters (OUT or IN OUT, though IN is most common for functions used in SQL).</a:t>
            </a:r>
          </a:p>
        </p:txBody>
      </p:sp>
    </p:spTree>
    <p:extLst>
      <p:ext uri="{BB962C8B-B14F-4D97-AF65-F5344CB8AC3E}">
        <p14:creationId xmlns:p14="http://schemas.microsoft.com/office/powerpoint/2010/main" val="104231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7000" y="609600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 Stored Procedures </a:t>
            </a:r>
            <a:endParaRPr lang="en-US" sz="28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Example: Function Without parameters</a:t>
            </a:r>
            <a:endParaRPr lang="en-US" sz="2800" b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2187574"/>
            <a:ext cx="4933950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3285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7000" y="609600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 Stored Procedures </a:t>
            </a:r>
            <a:endParaRPr lang="en-US" sz="28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Example: Function With parameters</a:t>
            </a:r>
            <a:endParaRPr lang="en-US" sz="2800" b="1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57400"/>
            <a:ext cx="5162550" cy="370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9839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57400" y="589481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 smtClean="0"/>
              <a:t>Triggers</a:t>
            </a:r>
            <a:endParaRPr lang="en-US" sz="28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8153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Triggers </a:t>
            </a:r>
            <a:r>
              <a:rPr lang="en-US" sz="2800" b="1" dirty="0" smtClean="0"/>
              <a:t>: It is a Procedure that starts Automatically if Specific Changes Occur to the DBMS.</a:t>
            </a:r>
            <a:endParaRPr 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2514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It has three parts: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35495" y="3124200"/>
            <a:ext cx="81534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Trigger Event </a:t>
            </a:r>
            <a:r>
              <a:rPr lang="en-US" sz="2800" b="1" dirty="0" smtClean="0"/>
              <a:t>: </a:t>
            </a:r>
            <a:r>
              <a:rPr lang="en-US" sz="2400" dirty="0" smtClean="0"/>
              <a:t>The </a:t>
            </a:r>
            <a:r>
              <a:rPr lang="en-US" sz="2400" dirty="0"/>
              <a:t>action that causes the trigger to fire (e.g., INSERT, UPDATE, or DELETE operations on a table).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25556" y="4081790"/>
            <a:ext cx="81534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Condition :</a:t>
            </a:r>
            <a:r>
              <a:rPr lang="en-US" sz="2400" dirty="0"/>
              <a:t>A specific criteria that must be met for the trigger action to execute (e.g., WHEN (</a:t>
            </a:r>
            <a:r>
              <a:rPr lang="en-US" sz="2400" dirty="0" err="1"/>
              <a:t>NEW.salary</a:t>
            </a:r>
            <a:r>
              <a:rPr lang="en-US" sz="2400" dirty="0"/>
              <a:t> &gt; 10000)).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678" y="5257800"/>
            <a:ext cx="81534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Trigger </a:t>
            </a:r>
            <a:r>
              <a:rPr lang="en-US" sz="2800" b="1" dirty="0" err="1" smtClean="0"/>
              <a:t>Action:</a:t>
            </a:r>
            <a:r>
              <a:rPr lang="en-US" sz="2400" dirty="0" err="1"/>
              <a:t>The</a:t>
            </a:r>
            <a:r>
              <a:rPr lang="en-US" sz="2400" dirty="0"/>
              <a:t> PL/SQL block (BEGIN ... END;) containing the actual code to be executed when the event occurs.</a:t>
            </a:r>
          </a:p>
        </p:txBody>
      </p:sp>
    </p:spTree>
    <p:extLst>
      <p:ext uri="{BB962C8B-B14F-4D97-AF65-F5344CB8AC3E}">
        <p14:creationId xmlns:p14="http://schemas.microsoft.com/office/powerpoint/2010/main" val="3783989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57400" y="360761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 smtClean="0"/>
              <a:t>Triggers</a:t>
            </a:r>
            <a:endParaRPr lang="en-US" sz="28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990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Syntax</a:t>
            </a:r>
            <a:endParaRPr lang="en-US" sz="2800" b="1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" y="1606706"/>
            <a:ext cx="7023100" cy="3793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" y="5638800"/>
            <a:ext cx="4305300" cy="103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9784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0" y="347990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 smtClean="0"/>
              <a:t>Cursor </a:t>
            </a:r>
            <a:endParaRPr lang="en-US" sz="2800" b="1" i="1" dirty="0"/>
          </a:p>
        </p:txBody>
      </p:sp>
      <p:sp>
        <p:nvSpPr>
          <p:cNvPr id="2" name="TextBox 1"/>
          <p:cNvSpPr txBox="1"/>
          <p:nvPr/>
        </p:nvSpPr>
        <p:spPr>
          <a:xfrm>
            <a:off x="1146313" y="891088"/>
            <a:ext cx="708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cursor in PL/SQL is a pointer to a memory area (context area) allocated by the database server to process and manage SQL statements. When an SQL query returns multiple rows, the database creates a working area called a cursor to hold those rows so your program can process them one by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2221468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Types of Cursors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25908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PL/SQL, cursors are divided into two main types: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1348496" y="2960132"/>
            <a:ext cx="16995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1. Implicit Cursors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8496" y="3359281"/>
            <a:ext cx="594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they are:</a:t>
            </a:r>
            <a:r>
              <a:rPr lang="en-US" dirty="0"/>
              <a:t> These are created </a:t>
            </a:r>
            <a:r>
              <a:rPr lang="en-US" b="1" dirty="0"/>
              <a:t>automatically</a:t>
            </a:r>
            <a:r>
              <a:rPr lang="en-US" dirty="0"/>
              <a:t> by Oracle whenever an SQL statement (like INSERT, UPDATE, DELETE, or a SELECT ... INTO query that returns a single row) is executed and no explicit cursor has been declared.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800" y="4559610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it works:</a:t>
            </a:r>
            <a:r>
              <a:rPr lang="en-US" dirty="0"/>
              <a:t> You don't need to write code to open, fetch, or close implicit cursors. Oracle handles them behind the scenes.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5410200"/>
            <a:ext cx="6477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Attributes:</a:t>
            </a:r>
            <a:r>
              <a:rPr lang="en-US" dirty="0"/>
              <a:t> You can use cursor attributes (like SQL%ROWCOUNT, SQL%FOUND, SQL%NOTFOUND) to check the status of the most recent DML or query operation.</a:t>
            </a:r>
          </a:p>
        </p:txBody>
      </p:sp>
    </p:spTree>
    <p:extLst>
      <p:ext uri="{BB962C8B-B14F-4D97-AF65-F5344CB8AC3E}">
        <p14:creationId xmlns:p14="http://schemas.microsoft.com/office/powerpoint/2010/main" val="13544460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0" y="347990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 smtClean="0"/>
              <a:t>Cursor </a:t>
            </a:r>
            <a:endParaRPr lang="en-US" sz="2800" b="1" i="1" dirty="0"/>
          </a:p>
        </p:txBody>
      </p:sp>
      <p:sp>
        <p:nvSpPr>
          <p:cNvPr id="5" name="Rectangle 4"/>
          <p:cNvSpPr/>
          <p:nvPr/>
        </p:nvSpPr>
        <p:spPr>
          <a:xfrm>
            <a:off x="1430637" y="871210"/>
            <a:ext cx="27671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2. Explicit Cursors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1524000"/>
            <a:ext cx="655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they are:</a:t>
            </a:r>
            <a:r>
              <a:rPr lang="en-US" dirty="0"/>
              <a:t> These are </a:t>
            </a:r>
            <a:r>
              <a:rPr lang="en-US" b="1" dirty="0"/>
              <a:t>user-defined</a:t>
            </a:r>
            <a:r>
              <a:rPr lang="en-US" dirty="0"/>
              <a:t> cursors created by the programmer for queries that return </a:t>
            </a:r>
            <a:r>
              <a:rPr lang="en-US" b="1" dirty="0"/>
              <a:t>multiple rows</a:t>
            </a:r>
            <a:r>
              <a:rPr lang="en-US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4000" y="2362200"/>
            <a:ext cx="6400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How it works:</a:t>
            </a:r>
            <a:r>
              <a:rPr lang="en-US" dirty="0"/>
              <a:t> You must explicitly manage them through four steps: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2875002"/>
            <a:ext cx="4198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DECLARE:</a:t>
            </a:r>
            <a:r>
              <a:rPr lang="en-US" dirty="0"/>
              <a:t> Define the cursor with a SQL query.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0340" y="3429000"/>
            <a:ext cx="4158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OPEN:</a:t>
            </a:r>
            <a:r>
              <a:rPr lang="en-US" dirty="0"/>
              <a:t> Allocate memory by opening the cursor.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0340" y="395937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FETCH:</a:t>
            </a:r>
            <a:r>
              <a:rPr lang="en-US" dirty="0"/>
              <a:t> Retrieve rows from the cursor one by one into variables.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66844" y="4844534"/>
            <a:ext cx="4400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CLOSE:</a:t>
            </a:r>
            <a:r>
              <a:rPr lang="en-US" dirty="0"/>
              <a:t> Release the memory area when finished.</a:t>
            </a:r>
          </a:p>
        </p:txBody>
      </p:sp>
    </p:spTree>
    <p:extLst>
      <p:ext uri="{BB962C8B-B14F-4D97-AF65-F5344CB8AC3E}">
        <p14:creationId xmlns:p14="http://schemas.microsoft.com/office/powerpoint/2010/main" val="14474442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3048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Example1:</a:t>
            </a:r>
            <a:endParaRPr lang="en-US" sz="2800" b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65214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038600"/>
            <a:ext cx="413385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0999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3048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Example1:</a:t>
            </a:r>
            <a:endParaRPr lang="en-US" sz="28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066800"/>
            <a:ext cx="60833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2479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304800"/>
            <a:ext cx="815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Control Structures in DBMS</a:t>
            </a:r>
            <a:endParaRPr lang="en-US" sz="3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914400" y="1066800"/>
            <a:ext cx="762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Control Structures in database management systems (DBMS) allow you to add programming logic—such as decision-making (conditions) and loops (iteration)—inside your stored procedures and functions.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2895600"/>
            <a:ext cx="381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Main Types of Control Structures</a:t>
            </a: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143000" y="3323991"/>
            <a:ext cx="381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1--</a:t>
            </a:r>
            <a:r>
              <a:rPr lang="en-US" sz="2000" dirty="0" smtClean="0"/>
              <a:t>Conditional Statements: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524000" y="3930494"/>
            <a:ext cx="381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IF-THEN-ELSE</a:t>
            </a:r>
          </a:p>
          <a:p>
            <a:r>
              <a:rPr lang="en-US" sz="2000" dirty="0" smtClean="0"/>
              <a:t>CASE Statement</a:t>
            </a:r>
          </a:p>
          <a:p>
            <a:endParaRPr 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176130" y="5098557"/>
            <a:ext cx="381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2--</a:t>
            </a:r>
            <a:r>
              <a:rPr lang="en-US" sz="2000" dirty="0" smtClean="0"/>
              <a:t>Loops:</a:t>
            </a:r>
            <a:endParaRPr lang="en-US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643270" y="5638800"/>
            <a:ext cx="381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 smtClean="0"/>
              <a:t>WHILE Loop</a:t>
            </a:r>
          </a:p>
          <a:p>
            <a:r>
              <a:rPr lang="nl-NL" sz="2000" dirty="0" smtClean="0"/>
              <a:t>REPEAT Loop</a:t>
            </a:r>
          </a:p>
          <a:p>
            <a:r>
              <a:rPr lang="nl-NL" sz="2000" dirty="0" smtClean="0"/>
              <a:t>LOOP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13994280"/>
      </p:ext>
    </p:extLst>
  </p:cSld>
  <p:clrMapOvr>
    <a:masterClrMapping/>
  </p:clrMapOvr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869</TotalTime>
  <Words>1412</Words>
  <Application>Microsoft Office PowerPoint</Application>
  <PresentationFormat>On-screen Show (4:3)</PresentationFormat>
  <Paragraphs>113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Horizon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A.J Compute's</dc:creator>
  <cp:lastModifiedBy>A.J Compute's</cp:lastModifiedBy>
  <cp:revision>89</cp:revision>
  <dcterms:created xsi:type="dcterms:W3CDTF">2026-10-22T16:08:25Z</dcterms:created>
  <dcterms:modified xsi:type="dcterms:W3CDTF">2026-10-29T12:16:02Z</dcterms:modified>
</cp:coreProperties>
</file>